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15 seconds.
"Good morning sir. I am Hardik and this is Mohammed Affan. Our project is NetMind, a network monitoring system with an AI layer that explains what is happening in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30 seconds.
"In short, sir: networks generate a lot of traffic and performance data, but monitoring tools only show raw numbers."
"NetMind captures and analyses network traffic, both live and from an NS2 simulation. It identifies protocols and calculates latency, throughput, packet loss and jitter."
"On top of this, a machine learning model detects unusual traffic, and an LLM Copilot explains the problem in simple language. The Copilot only advises and never controls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35 seconds.
"Sir, modern networks generate a lot of data: packets, connections, latency and throughput. Tools like Wireshark can capture and display all of it. But they only show raw numbers."
"If a user sees high latency or a sudden rise in connections, he still has to work out what it means, what caused it and what to do. That needs expertise. So the problem is that monitoring tools give data, but not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40 seconds.
"Our objective is to build NetMind, which works in three steps."
"First, measure. We get network data from live packet capture and from an NS2 simulation, and calculate latency, throughput, packet loss and jitter."
"Second, detect. A machine learning model checks whether the traffic is unusual."
"Third, explain. An AI Copilot uses these measurements and a networking knowledge base to explain the problem in simple language and suggest what to check."
"The important point is that real network data is the foundation. The AI only explains it and does not control the network. Affan will now explain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75 seconds. Point at each box as you name it.
"Sir, this is our architecture. It is a pipeline from left to right."
"Data comes in from two sources. Live packets are captured using Scapy, and simulated traffic comes from NS2 as a trace file. The Traffic Analyzer then identifies the protocol: TCP, UDP, ICMP, DNS or HTTP."
"Three modules work on this traffic. The Performance Analyzer calculates latency, throughput and packet loss. The Topology module builds a graph of the nodes and finds shortest paths using Dijkstra's algorithm. The ML module uses Isolation Forest to detect anomalies."
"All results are stored in a database. When the user asks a question, the RAG engine finds the relevant networking knowledge, and the LLM Copilot combines it with the current network state to give an explanation."
"Finally, everything is shown on the dashboard. Each module can be developed and tested separately. I will now explain the NS2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55 seconds.
"Sir, as per your suggestion, we have added an NS2 Simulation Module."
"In NS2 we build a five-node network. A TCP file transfer runs from n0 to n3. At 3 seconds, a heavy UDP stream joins on the same 1 megabit link. The router queue fills up, delay increases and packets get dropped. This is congestion."
"At 7 seconds we make the main link fail. Since we use Distance Vector routing, traffic is rerouted through the backup node n4, and the delay goes up."
"NS2 writes every packet event into a trace file. Our Python parser reads it and calculates throughput, packet loss, delay and jitter for every second. Because we know exactly when we created each problem, we can check whether NetMind detects and explains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40 seconds.
"Here is an example of how it works. These are illustrative values, not measured results."
"Suppose the network becomes slow. NetMind measures a latency of 185 milliseconds, packet loss of 7.4 percent and a high number of TCP retransmissions. The ML module flags this traffic as anomalous."
"The user asks the Copilot: what is causing the slowdown? The Copilot explains that the likely cause is congestion, and suggests checking the busiest flows and the link utilization."
"We will recreate this same scenario in NS2 to test it. All of this appears on one dashboard, as in this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40 seconds.
"Sir, at the end of the project we expect three kinds of results."
"On the networking side, NetMind will capture live traffic, classify it by protocol, measure latency, throughput, loss and jitter, and show the topology with shortest paths."
"With NS2, we will create congestion and a link failure on purpose, show Distance Vector rerouting in NAM, and calculate the same metrics from the trace files."
"On the intelligence side, the ML model will flag unusual traffic and the Copilot will explain the cause and suggest what to check."
"The final result is one dashboard that shows all of this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first, then Hardik, then Affan closes. 50 seconds.
Affan: "Sir, the project maps to 24 topics of our Computer Networks syllabus, such as TCP, UDP, DNS, IPv4 addressing, routing and performance analysis."
"We will build it in eight phases. We start with the networking modules, and add the AI modules after that foundation works."
"NS2 also lets us show congestion control and Distance Vector routing from the syllabus in action."
"For the work split, I will handle the NS2 simulation, the Performance Analyzer, anomaly detection, the RAG engine and the Copilot."
Hardik: "I will handle packet capture, the Traffic Analyzer, topology and routing, and the database, and I will lead the dashboard. Integration and testing we will do together."
Affan: "Thank you sir.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NetMind  |  BCSE308P Review 1</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1097280"/>
            <a:ext cx="640080" cy="1280160"/>
          </a:xfrm>
          <a:prstGeom prst="line">
            <a:avLst/>
          </a:prstGeom>
          <a:noFill/>
          <a:ln w="15875">
            <a:solidFill>
              <a:schemeClr val="accent5"/>
            </a:solidFill>
            <a:prstDash val="solid"/>
          </a:ln>
        </p:spPr>
      </p:sp>
      <p:sp>
        <p:nvSpPr>
          <p:cNvPr id="3" name="Shape 1"/>
          <p:cNvSpPr/>
          <p:nvPr/>
        </p:nvSpPr>
        <p:spPr>
          <a:xfrm flipV="1">
            <a:off x="7223760" y="1463040"/>
            <a:ext cx="731520" cy="914400"/>
          </a:xfrm>
          <a:prstGeom prst="line">
            <a:avLst/>
          </a:prstGeom>
          <a:noFill/>
          <a:ln w="15875">
            <a:solidFill>
              <a:schemeClr val="accent5"/>
            </a:solidFill>
            <a:prstDash val="solid"/>
          </a:ln>
        </p:spPr>
      </p:sp>
      <p:sp>
        <p:nvSpPr>
          <p:cNvPr id="4" name="Shape 2"/>
          <p:cNvSpPr/>
          <p:nvPr/>
        </p:nvSpPr>
        <p:spPr>
          <a:xfrm>
            <a:off x="7223760" y="2377440"/>
            <a:ext cx="1188720" cy="365760"/>
          </a:xfrm>
          <a:prstGeom prst="line">
            <a:avLst/>
          </a:prstGeom>
          <a:noFill/>
          <a:ln w="15875">
            <a:solidFill>
              <a:schemeClr val="accent5"/>
            </a:solidFill>
            <a:prstDash val="solid"/>
          </a:ln>
        </p:spPr>
      </p:sp>
      <p:sp>
        <p:nvSpPr>
          <p:cNvPr id="5" name="Shape 3"/>
          <p:cNvSpPr/>
          <p:nvPr/>
        </p:nvSpPr>
        <p:spPr>
          <a:xfrm flipV="1">
            <a:off x="6400800" y="2377440"/>
            <a:ext cx="822960" cy="914400"/>
          </a:xfrm>
          <a:prstGeom prst="line">
            <a:avLst/>
          </a:prstGeom>
          <a:noFill/>
          <a:ln w="15875">
            <a:solidFill>
              <a:schemeClr val="accent5"/>
            </a:solidFill>
            <a:prstDash val="solid"/>
          </a:ln>
        </p:spPr>
      </p:sp>
      <p:sp>
        <p:nvSpPr>
          <p:cNvPr id="6" name="Shape 4"/>
          <p:cNvSpPr/>
          <p:nvPr/>
        </p:nvSpPr>
        <p:spPr>
          <a:xfrm>
            <a:off x="6400800" y="3291840"/>
            <a:ext cx="1280160" cy="548640"/>
          </a:xfrm>
          <a:prstGeom prst="line">
            <a:avLst/>
          </a:prstGeom>
          <a:noFill/>
          <a:ln w="15875">
            <a:solidFill>
              <a:schemeClr val="accent5"/>
            </a:solidFill>
            <a:prstDash val="solid"/>
          </a:ln>
        </p:spPr>
      </p:sp>
      <p:sp>
        <p:nvSpPr>
          <p:cNvPr id="7" name="Shape 5"/>
          <p:cNvSpPr/>
          <p:nvPr/>
        </p:nvSpPr>
        <p:spPr>
          <a:xfrm flipV="1">
            <a:off x="7680960" y="2743200"/>
            <a:ext cx="731520" cy="1097280"/>
          </a:xfrm>
          <a:prstGeom prst="line">
            <a:avLst/>
          </a:prstGeom>
          <a:noFill/>
          <a:ln w="15875">
            <a:solidFill>
              <a:schemeClr val="accent5"/>
            </a:solidFill>
            <a:prstDash val="solid"/>
          </a:ln>
        </p:spPr>
      </p:sp>
      <p:sp>
        <p:nvSpPr>
          <p:cNvPr id="8" name="Shape 6"/>
          <p:cNvSpPr/>
          <p:nvPr/>
        </p:nvSpPr>
        <p:spPr>
          <a:xfrm>
            <a:off x="6583680" y="1097280"/>
            <a:ext cx="1371600" cy="365760"/>
          </a:xfrm>
          <a:prstGeom prst="line">
            <a:avLst/>
          </a:prstGeom>
          <a:noFill/>
          <a:ln w="15875">
            <a:solidFill>
              <a:schemeClr val="accent5"/>
            </a:solidFill>
            <a:prstDash val="solid"/>
          </a:ln>
        </p:spPr>
      </p:sp>
      <p:sp>
        <p:nvSpPr>
          <p:cNvPr id="9" name="node0"/>
          <p:cNvSpPr/>
          <p:nvPr/>
        </p:nvSpPr>
        <p:spPr>
          <a:xfrm>
            <a:off x="6455664" y="969264"/>
            <a:ext cx="256032" cy="256032"/>
          </a:xfrm>
          <a:prstGeom prst="ellipse">
            <a:avLst/>
          </a:prstGeom>
          <a:solidFill>
            <a:schemeClr val="accent3"/>
          </a:solidFill>
          <a:ln/>
        </p:spPr>
      </p:sp>
      <p:sp>
        <p:nvSpPr>
          <p:cNvPr id="10" name="node1"/>
          <p:cNvSpPr/>
          <p:nvPr/>
        </p:nvSpPr>
        <p:spPr>
          <a:xfrm>
            <a:off x="7827264" y="1335024"/>
            <a:ext cx="256032" cy="256032"/>
          </a:xfrm>
          <a:prstGeom prst="ellipse">
            <a:avLst/>
          </a:prstGeom>
          <a:solidFill>
            <a:schemeClr val="accent3"/>
          </a:solidFill>
          <a:ln/>
        </p:spPr>
      </p:sp>
      <p:sp>
        <p:nvSpPr>
          <p:cNvPr id="11" name="node2"/>
          <p:cNvSpPr/>
          <p:nvPr/>
        </p:nvSpPr>
        <p:spPr>
          <a:xfrm>
            <a:off x="7095744" y="2249424"/>
            <a:ext cx="256032" cy="256032"/>
          </a:xfrm>
          <a:prstGeom prst="ellipse">
            <a:avLst/>
          </a:prstGeom>
          <a:solidFill>
            <a:schemeClr val="accent2"/>
          </a:solidFill>
          <a:ln/>
        </p:spPr>
      </p:sp>
      <p:sp>
        <p:nvSpPr>
          <p:cNvPr id="12" name="node3"/>
          <p:cNvSpPr/>
          <p:nvPr/>
        </p:nvSpPr>
        <p:spPr>
          <a:xfrm>
            <a:off x="8284464" y="2615184"/>
            <a:ext cx="256032" cy="256032"/>
          </a:xfrm>
          <a:prstGeom prst="ellipse">
            <a:avLst/>
          </a:prstGeom>
          <a:solidFill>
            <a:schemeClr val="accent3"/>
          </a:solidFill>
          <a:ln/>
        </p:spPr>
      </p:sp>
      <p:sp>
        <p:nvSpPr>
          <p:cNvPr id="13" name="node4"/>
          <p:cNvSpPr/>
          <p:nvPr/>
        </p:nvSpPr>
        <p:spPr>
          <a:xfrm>
            <a:off x="6272784" y="3163824"/>
            <a:ext cx="256032" cy="256032"/>
          </a:xfrm>
          <a:prstGeom prst="ellipse">
            <a:avLst/>
          </a:prstGeom>
          <a:solidFill>
            <a:schemeClr val="accent3"/>
          </a:solidFill>
          <a:ln/>
        </p:spPr>
      </p:sp>
      <p:sp>
        <p:nvSpPr>
          <p:cNvPr id="14" name="node5"/>
          <p:cNvSpPr/>
          <p:nvPr/>
        </p:nvSpPr>
        <p:spPr>
          <a:xfrm>
            <a:off x="7552944" y="3712464"/>
            <a:ext cx="256032" cy="256032"/>
          </a:xfrm>
          <a:prstGeom prst="ellipse">
            <a:avLst/>
          </a:prstGeom>
          <a:solidFill>
            <a:schemeClr val="accent3"/>
          </a:solidFill>
          <a:ln/>
        </p:spPr>
      </p:sp>
      <p:sp>
        <p:nvSpPr>
          <p:cNvPr id="15" name="Text 13"/>
          <p:cNvSpPr txBox="1"/>
          <p:nvPr/>
        </p:nvSpPr>
        <p:spPr>
          <a:xfrm>
            <a:off x="548640" y="914400"/>
            <a:ext cx="5486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COMPUTER NETWORKS LAB  |  BCSE308P  |  PROJECT REVIEW 1</a:t>
            </a:r>
            <a:endParaRPr lang="en-US" sz="1200" dirty="0"/>
          </a:p>
        </p:txBody>
      </p:sp>
      <p:sp>
        <p:nvSpPr>
          <p:cNvPr id="16" name="Text 14"/>
          <p:cNvSpPr txBox="1"/>
          <p:nvPr/>
        </p:nvSpPr>
        <p:spPr>
          <a:xfrm>
            <a:off x="548640" y="1280160"/>
            <a:ext cx="5486400" cy="82296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NetMind</a:t>
            </a:r>
            <a:endParaRPr lang="en-US" sz="5400" dirty="0"/>
          </a:p>
        </p:txBody>
      </p:sp>
      <p:sp>
        <p:nvSpPr>
          <p:cNvPr id="17" name="Text 15"/>
          <p:cNvSpPr txBox="1"/>
          <p:nvPr/>
        </p:nvSpPr>
        <p:spPr>
          <a:xfrm>
            <a:off x="548640" y="2148840"/>
            <a:ext cx="5486400" cy="731520"/>
          </a:xfrm>
          <a:prstGeom prst="rect">
            <a:avLst/>
          </a:prstGeom>
          <a:noFill/>
          <a:ln/>
        </p:spPr>
        <p:txBody>
          <a:bodyPr wrap="square" lIns="0" tIns="0" rIns="0" bIns="0" rtlCol="0" anchor="t"/>
          <a:lstStyle/>
          <a:p>
            <a:pPr indent="0" marL="0">
              <a:buNone/>
            </a:pPr>
            <a:r>
              <a:rPr lang="en-US" sz="2000" dirty="0">
                <a:solidFill>
                  <a:schemeClr val="accent6"/>
                </a:solidFill>
              </a:rPr>
              <a:t>AI-Powered Network Intelligence and LLM Network Copilot</a:t>
            </a:r>
            <a:endParaRPr lang="en-US" sz="2000" dirty="0"/>
          </a:p>
        </p:txBody>
      </p:sp>
      <p:sp>
        <p:nvSpPr>
          <p:cNvPr id="18" name="Text 16"/>
          <p:cNvSpPr txBox="1"/>
          <p:nvPr/>
        </p:nvSpPr>
        <p:spPr>
          <a:xfrm>
            <a:off x="548640" y="3383280"/>
            <a:ext cx="4572000" cy="7315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Mohammed Affan</a:t>
            </a:r>
            <a:pPr indent="0" marL="0">
              <a:spcAft>
                <a:spcPts val="400"/>
              </a:spcAft>
              <a:buNone/>
            </a:pPr>
            <a:r>
              <a:rPr lang="en-US" sz="1600" dirty="0">
                <a:solidFill>
                  <a:schemeClr val="accent6"/>
                </a:solidFill>
              </a:rPr>
              <a:t>   24BAI0014</a:t>
            </a:r>
            <a:endParaRPr lang="en-US" sz="1600" dirty="0"/>
          </a:p>
          <a:p>
            <a:pPr indent="0" marL="0">
              <a:spcAft>
                <a:spcPts val="400"/>
              </a:spcAft>
              <a:buNone/>
            </a:pPr>
            <a:r>
              <a:rPr lang="en-US" sz="1600" b="1" dirty="0">
                <a:solidFill>
                  <a:schemeClr val="bg1"/>
                </a:solidFill>
              </a:rPr>
              <a:t>Hardik</a:t>
            </a:r>
            <a:pPr indent="0" marL="0">
              <a:spcAft>
                <a:spcPts val="400"/>
              </a:spcAft>
              <a:buNone/>
            </a:pPr>
            <a:r>
              <a:rPr lang="en-US" sz="1600" dirty="0">
                <a:solidFill>
                  <a:schemeClr val="accent6"/>
                </a:solidFill>
              </a:rPr>
              <a:t>   24BCI0017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Abstract</a:t>
            </a:r>
            <a:endParaRPr lang="en-US" sz="2800" dirty="0"/>
          </a:p>
        </p:txBody>
      </p:sp>
      <p:sp>
        <p:nvSpPr>
          <p:cNvPr id="3" name="Text 1"/>
          <p:cNvSpPr txBox="1"/>
          <p:nvPr/>
        </p:nvSpPr>
        <p:spPr>
          <a:xfrm>
            <a:off x="457200" y="1097280"/>
            <a:ext cx="5120640" cy="3291840"/>
          </a:xfrm>
          <a:prstGeom prst="rect">
            <a:avLst/>
          </a:prstGeom>
          <a:noFill/>
          <a:ln/>
        </p:spPr>
        <p:txBody>
          <a:bodyPr wrap="square" lIns="0" tIns="0" rIns="0" bIns="0" rtlCol="0" anchor="t"/>
          <a:lstStyle/>
          <a:p>
            <a:pPr indent="0" marL="0">
              <a:spcAft>
                <a:spcPts val="1200"/>
              </a:spcAft>
              <a:buNone/>
            </a:pPr>
            <a:r>
              <a:rPr lang="en-US" sz="1500" dirty="0">
                <a:solidFill>
                  <a:schemeClr val="tx1"/>
                </a:solidFill>
              </a:rPr>
              <a:t>Networks generate huge amounts of traffic and performance data, but monitoring tools only show raw numbers and leave the interpretation to the user.</a:t>
            </a:r>
            <a:endParaRPr lang="en-US" sz="1500" dirty="0"/>
          </a:p>
          <a:p>
            <a:pPr indent="0" marL="0">
              <a:spcAft>
                <a:spcPts val="1200"/>
              </a:spcAft>
              <a:buNone/>
            </a:pPr>
            <a:r>
              <a:rPr lang="en-US" sz="1500" dirty="0">
                <a:solidFill>
                  <a:schemeClr val="tx1"/>
                </a:solidFill>
              </a:rPr>
              <a:t>NetMind captures and analyses network traffic, identifies protocols (TCP, UDP, ICMP, DNS, HTTP) and calculates latency, throughput, packet loss and jitter. Traffic comes from live capture and from NS2 simulation.</a:t>
            </a:r>
            <a:endParaRPr lang="en-US" sz="1500" dirty="0"/>
          </a:p>
          <a:p>
            <a:pPr indent="0" marL="0">
              <a:spcAft>
                <a:spcPts val="1200"/>
              </a:spcAft>
              <a:buNone/>
            </a:pPr>
            <a:r>
              <a:rPr lang="en-US" sz="1500" dirty="0">
                <a:solidFill>
                  <a:schemeClr val="tx1"/>
                </a:solidFill>
              </a:rPr>
              <a:t>An ML model detects unusual traffic, and an LLM Copilot uses RAG to explain problems in plain English. The Copilot only advises; it never controls the network.</a:t>
            </a:r>
            <a:endParaRPr lang="en-US" sz="1500" dirty="0"/>
          </a:p>
        </p:txBody>
      </p:sp>
      <p:sp>
        <p:nvSpPr>
          <p:cNvPr id="4" name="keywordsPanel"/>
          <p:cNvSpPr/>
          <p:nvPr/>
        </p:nvSpPr>
        <p:spPr>
          <a:xfrm>
            <a:off x="5943600" y="1097280"/>
            <a:ext cx="2743200" cy="3291840"/>
          </a:xfrm>
          <a:prstGeom prst="roundRect">
            <a:avLst>
              <a:gd name="adj" fmla="val 2667"/>
            </a:avLst>
          </a:prstGeom>
          <a:solidFill>
            <a:schemeClr val="bg2"/>
          </a:solidFill>
          <a:ln/>
        </p:spPr>
      </p:sp>
      <p:sp>
        <p:nvSpPr>
          <p:cNvPr id="5" name="Text 3"/>
          <p:cNvSpPr txBox="1"/>
          <p:nvPr/>
        </p:nvSpPr>
        <p:spPr>
          <a:xfrm>
            <a:off x="6172200" y="1261872"/>
            <a:ext cx="2286000" cy="228600"/>
          </a:xfrm>
          <a:prstGeom prst="rect">
            <a:avLst/>
          </a:prstGeom>
          <a:noFill/>
          <a:ln/>
        </p:spPr>
        <p:txBody>
          <a:bodyPr wrap="square" lIns="0" tIns="0" rIns="0" bIns="0" rtlCol="0" anchor="t"/>
          <a:lstStyle/>
          <a:p>
            <a:pPr indent="0" marL="0">
              <a:buNone/>
            </a:pPr>
            <a:r>
              <a:rPr lang="en-US" sz="1100" b="1" dirty="0">
                <a:solidFill>
                  <a:schemeClr val="accent5"/>
                </a:solidFill>
              </a:rPr>
              <a:t>KEYWORDS</a:t>
            </a:r>
            <a:endParaRPr lang="en-US" sz="1100" dirty="0"/>
          </a:p>
        </p:txBody>
      </p:sp>
      <p:sp>
        <p:nvSpPr>
          <p:cNvPr id="6" name="kw0"/>
          <p:cNvSpPr/>
          <p:nvPr/>
        </p:nvSpPr>
        <p:spPr>
          <a:xfrm>
            <a:off x="6172200" y="1627632"/>
            <a:ext cx="2286000" cy="338328"/>
          </a:xfrm>
          <a:prstGeom prst="roundRect">
            <a:avLst>
              <a:gd name="adj" fmla="val 21622"/>
            </a:avLst>
          </a:prstGeom>
          <a:solidFill>
            <a:schemeClr val="accent1"/>
          </a:solidFill>
          <a:ln/>
        </p:spPr>
      </p:sp>
      <p:sp>
        <p:nvSpPr>
          <p:cNvPr id="7" name="Text 5"/>
          <p:cNvSpPr txBox="1"/>
          <p:nvPr/>
        </p:nvSpPr>
        <p:spPr>
          <a:xfrm>
            <a:off x="6172200" y="1627632"/>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Packet Analysis</a:t>
            </a:r>
            <a:endParaRPr lang="en-US" sz="1300" dirty="0"/>
          </a:p>
        </p:txBody>
      </p:sp>
      <p:sp>
        <p:nvSpPr>
          <p:cNvPr id="8" name="kw1"/>
          <p:cNvSpPr/>
          <p:nvPr/>
        </p:nvSpPr>
        <p:spPr>
          <a:xfrm>
            <a:off x="6172200" y="2057400"/>
            <a:ext cx="2286000" cy="338328"/>
          </a:xfrm>
          <a:prstGeom prst="roundRect">
            <a:avLst>
              <a:gd name="adj" fmla="val 21622"/>
            </a:avLst>
          </a:prstGeom>
          <a:solidFill>
            <a:schemeClr val="accent1"/>
          </a:solidFill>
          <a:ln/>
        </p:spPr>
      </p:sp>
      <p:sp>
        <p:nvSpPr>
          <p:cNvPr id="9" name="Text 7"/>
          <p:cNvSpPr txBox="1"/>
          <p:nvPr/>
        </p:nvSpPr>
        <p:spPr>
          <a:xfrm>
            <a:off x="6172200" y="2057400"/>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TCP/IP</a:t>
            </a:r>
            <a:endParaRPr lang="en-US" sz="1300" dirty="0"/>
          </a:p>
        </p:txBody>
      </p:sp>
      <p:sp>
        <p:nvSpPr>
          <p:cNvPr id="10" name="kw2"/>
          <p:cNvSpPr/>
          <p:nvPr/>
        </p:nvSpPr>
        <p:spPr>
          <a:xfrm>
            <a:off x="6172200" y="2487168"/>
            <a:ext cx="2286000" cy="338328"/>
          </a:xfrm>
          <a:prstGeom prst="roundRect">
            <a:avLst>
              <a:gd name="adj" fmla="val 21622"/>
            </a:avLst>
          </a:prstGeom>
          <a:solidFill>
            <a:schemeClr val="accent1"/>
          </a:solidFill>
          <a:ln/>
        </p:spPr>
      </p:sp>
      <p:sp>
        <p:nvSpPr>
          <p:cNvPr id="11" name="Text 9"/>
          <p:cNvSpPr txBox="1"/>
          <p:nvPr/>
        </p:nvSpPr>
        <p:spPr>
          <a:xfrm>
            <a:off x="6172200" y="2487168"/>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NS2 Simulation</a:t>
            </a:r>
            <a:endParaRPr lang="en-US" sz="1300" dirty="0"/>
          </a:p>
        </p:txBody>
      </p:sp>
      <p:sp>
        <p:nvSpPr>
          <p:cNvPr id="12" name="kw3"/>
          <p:cNvSpPr/>
          <p:nvPr/>
        </p:nvSpPr>
        <p:spPr>
          <a:xfrm>
            <a:off x="6172200" y="2916936"/>
            <a:ext cx="2286000" cy="338328"/>
          </a:xfrm>
          <a:prstGeom prst="roundRect">
            <a:avLst>
              <a:gd name="adj" fmla="val 21622"/>
            </a:avLst>
          </a:prstGeom>
          <a:solidFill>
            <a:schemeClr val="accent2"/>
          </a:solidFill>
          <a:ln/>
        </p:spPr>
      </p:sp>
      <p:sp>
        <p:nvSpPr>
          <p:cNvPr id="13" name="Text 11"/>
          <p:cNvSpPr txBox="1"/>
          <p:nvPr/>
        </p:nvSpPr>
        <p:spPr>
          <a:xfrm>
            <a:off x="6172200" y="2916936"/>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Anomaly Detection</a:t>
            </a:r>
            <a:endParaRPr lang="en-US" sz="1300" dirty="0"/>
          </a:p>
        </p:txBody>
      </p:sp>
      <p:sp>
        <p:nvSpPr>
          <p:cNvPr id="14" name="kw4"/>
          <p:cNvSpPr/>
          <p:nvPr/>
        </p:nvSpPr>
        <p:spPr>
          <a:xfrm>
            <a:off x="6172200" y="3346704"/>
            <a:ext cx="2286000" cy="338328"/>
          </a:xfrm>
          <a:prstGeom prst="roundRect">
            <a:avLst>
              <a:gd name="adj" fmla="val 21622"/>
            </a:avLst>
          </a:prstGeom>
          <a:solidFill>
            <a:schemeClr val="accent2"/>
          </a:solidFill>
          <a:ln/>
        </p:spPr>
      </p:sp>
      <p:sp>
        <p:nvSpPr>
          <p:cNvPr id="15" name="Text 13"/>
          <p:cNvSpPr txBox="1"/>
          <p:nvPr/>
        </p:nvSpPr>
        <p:spPr>
          <a:xfrm>
            <a:off x="6172200" y="3346704"/>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RAG</a:t>
            </a:r>
            <a:endParaRPr lang="en-US" sz="1300" dirty="0"/>
          </a:p>
        </p:txBody>
      </p:sp>
      <p:sp>
        <p:nvSpPr>
          <p:cNvPr id="16" name="kw5"/>
          <p:cNvSpPr/>
          <p:nvPr/>
        </p:nvSpPr>
        <p:spPr>
          <a:xfrm>
            <a:off x="6172200" y="3776472"/>
            <a:ext cx="2286000" cy="338328"/>
          </a:xfrm>
          <a:prstGeom prst="roundRect">
            <a:avLst>
              <a:gd name="adj" fmla="val 21622"/>
            </a:avLst>
          </a:prstGeom>
          <a:solidFill>
            <a:schemeClr val="accent2"/>
          </a:solidFill>
          <a:ln/>
        </p:spPr>
      </p:sp>
      <p:sp>
        <p:nvSpPr>
          <p:cNvPr id="17" name="Text 15"/>
          <p:cNvSpPr txBox="1"/>
          <p:nvPr/>
        </p:nvSpPr>
        <p:spPr>
          <a:xfrm>
            <a:off x="6172200" y="3776472"/>
            <a:ext cx="2286000" cy="338328"/>
          </a:xfrm>
          <a:prstGeom prst="rect">
            <a:avLst/>
          </a:prstGeom>
          <a:noFill/>
          <a:ln/>
        </p:spPr>
        <p:txBody>
          <a:bodyPr wrap="square" lIns="0" tIns="0" rIns="0" bIns="0" rtlCol="0" anchor="ctr"/>
          <a:lstStyle/>
          <a:p>
            <a:pPr algn="ctr" indent="0" marL="0">
              <a:buNone/>
            </a:pPr>
            <a:r>
              <a:rPr lang="en-US" sz="1300" b="1" dirty="0">
                <a:solidFill>
                  <a:schemeClr val="bg1"/>
                </a:solidFill>
              </a:rPr>
              <a:t>LLM Copilot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Problem statement</a:t>
            </a:r>
            <a:endParaRPr lang="en-US" sz="2800" dirty="0"/>
          </a:p>
        </p:txBody>
      </p:sp>
      <p:sp>
        <p:nvSpPr>
          <p:cNvPr id="3" name="Text 1"/>
          <p:cNvSpPr txBox="1"/>
          <p:nvPr/>
        </p:nvSpPr>
        <p:spPr>
          <a:xfrm>
            <a:off x="457200" y="1051560"/>
            <a:ext cx="8229600" cy="594360"/>
          </a:xfrm>
          <a:prstGeom prst="rect">
            <a:avLst/>
          </a:prstGeom>
          <a:noFill/>
          <a:ln/>
        </p:spPr>
        <p:txBody>
          <a:bodyPr wrap="square" lIns="0" tIns="0" rIns="0" bIns="0" rtlCol="0" anchor="t"/>
          <a:lstStyle/>
          <a:p>
            <a:pPr indent="0" marL="0">
              <a:buNone/>
            </a:pPr>
            <a:r>
              <a:rPr lang="en-US" sz="1500" dirty="0">
                <a:solidFill>
                  <a:schemeClr val="tx1"/>
                </a:solidFill>
              </a:rPr>
              <a:t>Monitoring tools give data, not understanding. Tools like Wireshark capture and display everything, but the user still has to work out what it means.</a:t>
            </a:r>
            <a:endParaRPr lang="en-US" sz="1500" dirty="0"/>
          </a:p>
        </p:txBody>
      </p:sp>
      <p:sp>
        <p:nvSpPr>
          <p:cNvPr id="4" name="cardShow"/>
          <p:cNvSpPr/>
          <p:nvPr/>
        </p:nvSpPr>
        <p:spPr>
          <a:xfrm>
            <a:off x="457200" y="1828800"/>
            <a:ext cx="3840480" cy="2377440"/>
          </a:xfrm>
          <a:prstGeom prst="roundRect">
            <a:avLst>
              <a:gd name="adj" fmla="val 3077"/>
            </a:avLst>
          </a:prstGeom>
          <a:solidFill>
            <a:schemeClr val="bg2"/>
          </a:solidFill>
          <a:ln/>
        </p:spPr>
      </p:sp>
      <p:sp>
        <p:nvSpPr>
          <p:cNvPr id="5" name="Text 3"/>
          <p:cNvSpPr txBox="1"/>
          <p:nvPr/>
        </p:nvSpPr>
        <p:spPr>
          <a:xfrm>
            <a:off x="731520" y="2011680"/>
            <a:ext cx="3291840" cy="274320"/>
          </a:xfrm>
          <a:prstGeom prst="rect">
            <a:avLst/>
          </a:prstGeom>
          <a:noFill/>
          <a:ln/>
        </p:spPr>
        <p:txBody>
          <a:bodyPr wrap="square" lIns="0" tIns="0" rIns="0" bIns="0" rtlCol="0" anchor="t"/>
          <a:lstStyle/>
          <a:p>
            <a:pPr indent="0" marL="0">
              <a:buNone/>
            </a:pPr>
            <a:r>
              <a:rPr lang="en-US" sz="1200" b="1" dirty="0">
                <a:solidFill>
                  <a:schemeClr val="accent5"/>
                </a:solidFill>
              </a:rPr>
              <a:t>WHAT THE TOOL SHOWS</a:t>
            </a:r>
            <a:endParaRPr lang="en-US" sz="1200" dirty="0"/>
          </a:p>
        </p:txBody>
      </p:sp>
      <p:sp>
        <p:nvSpPr>
          <p:cNvPr id="6" name="Text 4"/>
          <p:cNvSpPr txBox="1"/>
          <p:nvPr/>
        </p:nvSpPr>
        <p:spPr>
          <a:xfrm>
            <a:off x="731520" y="2377440"/>
            <a:ext cx="3291840" cy="182880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latin typeface="Calibri" pitchFamily="34" charset="0"/>
                <a:ea typeface="Calibri" pitchFamily="34" charset="-122"/>
                <a:cs typeface="Calibri" pitchFamily="34" charset="-120"/>
              </a:rPr>
              <a:t>Latency: 185 ms</a:t>
            </a:r>
            <a:endParaRPr lang="en-US" sz="1800" dirty="0"/>
          </a:p>
          <a:p>
            <a:pPr indent="0" marL="0">
              <a:spcAft>
                <a:spcPts val="800"/>
              </a:spcAft>
              <a:buNone/>
            </a:pPr>
            <a:r>
              <a:rPr lang="en-US" sz="1800" b="1" dirty="0">
                <a:solidFill>
                  <a:schemeClr val="tx2"/>
                </a:solidFill>
                <a:latin typeface="Calibri" pitchFamily="34" charset="0"/>
                <a:ea typeface="Calibri" pitchFamily="34" charset="-122"/>
                <a:cs typeface="Calibri" pitchFamily="34" charset="-120"/>
              </a:rPr>
              <a:t>Packet loss: 7.4%</a:t>
            </a:r>
            <a:endParaRPr lang="en-US" sz="1800" dirty="0"/>
          </a:p>
          <a:p>
            <a:pPr indent="0" marL="0">
              <a:spcAft>
                <a:spcPts val="800"/>
              </a:spcAft>
              <a:buNone/>
            </a:pPr>
            <a:r>
              <a:rPr lang="en-US" sz="1800" b="1" dirty="0">
                <a:solidFill>
                  <a:schemeClr val="tx2"/>
                </a:solidFill>
                <a:latin typeface="Calibri" pitchFamily="34" charset="0"/>
                <a:ea typeface="Calibri" pitchFamily="34" charset="-122"/>
                <a:cs typeface="Calibri" pitchFamily="34" charset="-120"/>
              </a:rPr>
              <a:t>TCP retransmissions: high</a:t>
            </a:r>
            <a:endParaRPr lang="en-US" sz="1800" dirty="0"/>
          </a:p>
          <a:p>
            <a:pPr indent="0" marL="0">
              <a:spcAft>
                <a:spcPts val="800"/>
              </a:spcAft>
              <a:buNone/>
            </a:pPr>
            <a:r>
              <a:rPr lang="en-US" sz="1800" b="1" dirty="0">
                <a:solidFill>
                  <a:schemeClr val="tx2"/>
                </a:solidFill>
                <a:latin typeface="Calibri" pitchFamily="34" charset="0"/>
                <a:ea typeface="Calibri" pitchFamily="34" charset="-122"/>
                <a:cs typeface="Calibri" pitchFamily="34" charset="-120"/>
              </a:rPr>
              <a:t>Connections: rising</a:t>
            </a:r>
            <a:endParaRPr lang="en-US" sz="1800" dirty="0"/>
          </a:p>
        </p:txBody>
      </p:sp>
      <p:sp>
        <p:nvSpPr>
          <p:cNvPr id="7" name="gapArrow"/>
          <p:cNvSpPr/>
          <p:nvPr/>
        </p:nvSpPr>
        <p:spPr>
          <a:xfrm>
            <a:off x="4434840" y="2834640"/>
            <a:ext cx="457200" cy="365760"/>
          </a:xfrm>
          <a:prstGeom prst="rightArrow">
            <a:avLst/>
          </a:prstGeom>
          <a:solidFill>
            <a:schemeClr val="accent5"/>
          </a:solidFill>
          <a:ln/>
        </p:spPr>
      </p:sp>
      <p:sp>
        <p:nvSpPr>
          <p:cNvPr id="8" name="cardNeed"/>
          <p:cNvSpPr/>
          <p:nvPr/>
        </p:nvSpPr>
        <p:spPr>
          <a:xfrm>
            <a:off x="5029200" y="1828800"/>
            <a:ext cx="3657600" cy="2377440"/>
          </a:xfrm>
          <a:prstGeom prst="roundRect">
            <a:avLst>
              <a:gd name="adj" fmla="val 3077"/>
            </a:avLst>
          </a:prstGeom>
          <a:solidFill>
            <a:schemeClr val="accent4"/>
          </a:solidFill>
          <a:ln/>
        </p:spPr>
      </p:sp>
      <p:sp>
        <p:nvSpPr>
          <p:cNvPr id="9" name="Text 7"/>
          <p:cNvSpPr txBox="1"/>
          <p:nvPr/>
        </p:nvSpPr>
        <p:spPr>
          <a:xfrm>
            <a:off x="5303520" y="2011680"/>
            <a:ext cx="3200400" cy="274320"/>
          </a:xfrm>
          <a:prstGeom prst="rect">
            <a:avLst/>
          </a:prstGeom>
          <a:noFill/>
          <a:ln/>
        </p:spPr>
        <p:txBody>
          <a:bodyPr wrap="square" lIns="0" tIns="0" rIns="0" bIns="0" rtlCol="0" anchor="t"/>
          <a:lstStyle/>
          <a:p>
            <a:pPr indent="0" marL="0">
              <a:buNone/>
            </a:pPr>
            <a:r>
              <a:rPr lang="en-US" sz="1200" b="1" dirty="0">
                <a:solidFill>
                  <a:schemeClr val="bg1"/>
                </a:solidFill>
              </a:rPr>
              <a:t>WHAT THE USER NEEDS TO KNOW</a:t>
            </a:r>
            <a:endParaRPr lang="en-US" sz="1200" dirty="0"/>
          </a:p>
        </p:txBody>
      </p:sp>
      <p:sp>
        <p:nvSpPr>
          <p:cNvPr id="10" name="Text 8"/>
          <p:cNvSpPr txBox="1"/>
          <p:nvPr/>
        </p:nvSpPr>
        <p:spPr>
          <a:xfrm>
            <a:off x="5303520" y="2377440"/>
            <a:ext cx="3200400" cy="182880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Is this bad?</a:t>
            </a:r>
            <a:endParaRPr lang="en-US" sz="1800" dirty="0"/>
          </a:p>
          <a:p>
            <a:pPr indent="0" marL="0">
              <a:spcAft>
                <a:spcPts val="800"/>
              </a:spcAft>
              <a:buNone/>
            </a:pPr>
            <a:r>
              <a:rPr lang="en-US" sz="1800" b="1" dirty="0">
                <a:solidFill>
                  <a:schemeClr val="bg1"/>
                </a:solidFill>
              </a:rPr>
              <a:t>What caused it?</a:t>
            </a:r>
            <a:endParaRPr lang="en-US" sz="1800" dirty="0"/>
          </a:p>
          <a:p>
            <a:pPr indent="0" marL="0">
              <a:spcAft>
                <a:spcPts val="800"/>
              </a:spcAft>
              <a:buNone/>
            </a:pPr>
            <a:r>
              <a:rPr lang="en-US" sz="1800" b="1" dirty="0">
                <a:solidFill>
                  <a:schemeClr val="bg1"/>
                </a:solidFill>
              </a:rPr>
              <a:t>Which protocol or link?</a:t>
            </a:r>
            <a:endParaRPr lang="en-US" sz="1800" dirty="0"/>
          </a:p>
          <a:p>
            <a:pPr indent="0" marL="0">
              <a:spcAft>
                <a:spcPts val="800"/>
              </a:spcAft>
              <a:buNone/>
            </a:pPr>
            <a:r>
              <a:rPr lang="en-US" sz="1800" b="1" dirty="0">
                <a:solidFill>
                  <a:schemeClr val="bg1"/>
                </a:solidFill>
              </a:rPr>
              <a:t>What should I check?</a:t>
            </a:r>
            <a:endParaRPr lang="en-US" sz="1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Objective: measure, detect, explain</a:t>
            </a:r>
            <a:endParaRPr lang="en-US" sz="2800" dirty="0"/>
          </a:p>
        </p:txBody>
      </p:sp>
      <p:sp>
        <p:nvSpPr>
          <p:cNvPr id="3" name="cardMeasure"/>
          <p:cNvSpPr/>
          <p:nvPr/>
        </p:nvSpPr>
        <p:spPr>
          <a:xfrm>
            <a:off x="457200" y="1143000"/>
            <a:ext cx="2560320" cy="2743200"/>
          </a:xfrm>
          <a:prstGeom prst="roundRect">
            <a:avLst>
              <a:gd name="adj" fmla="val 2857"/>
            </a:avLst>
          </a:prstGeom>
          <a:solidFill>
            <a:schemeClr val="bg2"/>
          </a:solidFill>
          <a:ln/>
        </p:spPr>
      </p:sp>
      <p:sp>
        <p:nvSpPr>
          <p:cNvPr id="4" name="num1"/>
          <p:cNvSpPr/>
          <p:nvPr/>
        </p:nvSpPr>
        <p:spPr>
          <a:xfrm>
            <a:off x="731520" y="1371600"/>
            <a:ext cx="548640" cy="548640"/>
          </a:xfrm>
          <a:prstGeom prst="ellipse">
            <a:avLst/>
          </a:prstGeom>
          <a:solidFill>
            <a:schemeClr val="accent1"/>
          </a:solidFill>
          <a:ln/>
        </p:spPr>
      </p:sp>
      <p:sp>
        <p:nvSpPr>
          <p:cNvPr id="5" name="Text 3"/>
          <p:cNvSpPr txBox="1"/>
          <p:nvPr/>
        </p:nvSpPr>
        <p:spPr>
          <a:xfrm>
            <a:off x="73152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731520" y="2057400"/>
            <a:ext cx="210312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Measure</a:t>
            </a:r>
            <a:endParaRPr lang="en-US" sz="2200" dirty="0"/>
          </a:p>
        </p:txBody>
      </p:sp>
      <p:sp>
        <p:nvSpPr>
          <p:cNvPr id="7" name="Text 5"/>
          <p:cNvSpPr txBox="1"/>
          <p:nvPr/>
        </p:nvSpPr>
        <p:spPr>
          <a:xfrm>
            <a:off x="731520" y="2514600"/>
            <a:ext cx="2103120" cy="914400"/>
          </a:xfrm>
          <a:prstGeom prst="rect">
            <a:avLst/>
          </a:prstGeom>
          <a:noFill/>
          <a:ln/>
        </p:spPr>
        <p:txBody>
          <a:bodyPr wrap="square" lIns="0" tIns="0" rIns="0" bIns="0" rtlCol="0" anchor="t"/>
          <a:lstStyle/>
          <a:p>
            <a:pPr indent="0" marL="0">
              <a:buNone/>
            </a:pPr>
            <a:r>
              <a:rPr lang="en-US" sz="1400" dirty="0">
                <a:solidFill>
                  <a:schemeClr val="tx1"/>
                </a:solidFill>
              </a:rPr>
              <a:t>Capture packets and calculate latency, throughput, loss and jitter</a:t>
            </a:r>
            <a:endParaRPr lang="en-US" sz="1400" dirty="0"/>
          </a:p>
        </p:txBody>
      </p:sp>
      <p:sp>
        <p:nvSpPr>
          <p:cNvPr id="8" name="Text 6"/>
          <p:cNvSpPr txBox="1"/>
          <p:nvPr/>
        </p:nvSpPr>
        <p:spPr>
          <a:xfrm>
            <a:off x="731520" y="3474720"/>
            <a:ext cx="2103120" cy="274320"/>
          </a:xfrm>
          <a:prstGeom prst="rect">
            <a:avLst/>
          </a:prstGeom>
          <a:noFill/>
          <a:ln/>
        </p:spPr>
        <p:txBody>
          <a:bodyPr wrap="square" lIns="0" tIns="0" rIns="0" bIns="0" rtlCol="0" anchor="t"/>
          <a:lstStyle/>
          <a:p>
            <a:pPr indent="0" marL="0">
              <a:buNone/>
            </a:pPr>
            <a:r>
              <a:rPr lang="en-US" sz="1200" i="1" dirty="0">
                <a:solidFill>
                  <a:schemeClr val="accent5"/>
                </a:solidFill>
              </a:rPr>
              <a:t>Live capture (Scapy) + NS2 simulation</a:t>
            </a:r>
            <a:endParaRPr lang="en-US" sz="1200" dirty="0"/>
          </a:p>
        </p:txBody>
      </p:sp>
      <p:sp>
        <p:nvSpPr>
          <p:cNvPr id="9" name="cardDetect"/>
          <p:cNvSpPr/>
          <p:nvPr/>
        </p:nvSpPr>
        <p:spPr>
          <a:xfrm>
            <a:off x="3291840" y="1143000"/>
            <a:ext cx="2560320" cy="2743200"/>
          </a:xfrm>
          <a:prstGeom prst="roundRect">
            <a:avLst>
              <a:gd name="adj" fmla="val 2857"/>
            </a:avLst>
          </a:prstGeom>
          <a:solidFill>
            <a:schemeClr val="bg2"/>
          </a:solidFill>
          <a:ln/>
        </p:spPr>
      </p:sp>
      <p:sp>
        <p:nvSpPr>
          <p:cNvPr id="10" name="num2"/>
          <p:cNvSpPr/>
          <p:nvPr/>
        </p:nvSpPr>
        <p:spPr>
          <a:xfrm>
            <a:off x="3566160" y="1371600"/>
            <a:ext cx="548640" cy="548640"/>
          </a:xfrm>
          <a:prstGeom prst="ellipse">
            <a:avLst/>
          </a:prstGeom>
          <a:solidFill>
            <a:schemeClr val="accent2"/>
          </a:solidFill>
          <a:ln/>
        </p:spPr>
      </p:sp>
      <p:sp>
        <p:nvSpPr>
          <p:cNvPr id="11" name="Text 9"/>
          <p:cNvSpPr txBox="1"/>
          <p:nvPr/>
        </p:nvSpPr>
        <p:spPr>
          <a:xfrm>
            <a:off x="356616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3566160" y="2057400"/>
            <a:ext cx="2103120" cy="41148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Detect</a:t>
            </a:r>
            <a:endParaRPr lang="en-US" sz="2200" dirty="0"/>
          </a:p>
        </p:txBody>
      </p:sp>
      <p:sp>
        <p:nvSpPr>
          <p:cNvPr id="13" name="Text 11"/>
          <p:cNvSpPr txBox="1"/>
          <p:nvPr/>
        </p:nvSpPr>
        <p:spPr>
          <a:xfrm>
            <a:off x="3566160" y="2514600"/>
            <a:ext cx="2103120" cy="914400"/>
          </a:xfrm>
          <a:prstGeom prst="rect">
            <a:avLst/>
          </a:prstGeom>
          <a:noFill/>
          <a:ln/>
        </p:spPr>
        <p:txBody>
          <a:bodyPr wrap="square" lIns="0" tIns="0" rIns="0" bIns="0" rtlCol="0" anchor="t"/>
          <a:lstStyle/>
          <a:p>
            <a:pPr indent="0" marL="0">
              <a:buNone/>
            </a:pPr>
            <a:r>
              <a:rPr lang="en-US" sz="1400" dirty="0">
                <a:solidFill>
                  <a:schemeClr val="tx1"/>
                </a:solidFill>
              </a:rPr>
              <a:t>A machine learning model flags traffic that looks different from normal</a:t>
            </a:r>
            <a:endParaRPr lang="en-US" sz="1400" dirty="0"/>
          </a:p>
        </p:txBody>
      </p:sp>
      <p:sp>
        <p:nvSpPr>
          <p:cNvPr id="14" name="Text 12"/>
          <p:cNvSpPr txBox="1"/>
          <p:nvPr/>
        </p:nvSpPr>
        <p:spPr>
          <a:xfrm>
            <a:off x="3566160" y="3474720"/>
            <a:ext cx="2103120" cy="274320"/>
          </a:xfrm>
          <a:prstGeom prst="rect">
            <a:avLst/>
          </a:prstGeom>
          <a:noFill/>
          <a:ln/>
        </p:spPr>
        <p:txBody>
          <a:bodyPr wrap="square" lIns="0" tIns="0" rIns="0" bIns="0" rtlCol="0" anchor="t"/>
          <a:lstStyle/>
          <a:p>
            <a:pPr indent="0" marL="0">
              <a:buNone/>
            </a:pPr>
            <a:r>
              <a:rPr lang="en-US" sz="1200" i="1" dirty="0">
                <a:solidFill>
                  <a:schemeClr val="accent5"/>
                </a:solidFill>
              </a:rPr>
              <a:t>Isolation Forest</a:t>
            </a:r>
            <a:endParaRPr lang="en-US" sz="1200" dirty="0"/>
          </a:p>
        </p:txBody>
      </p:sp>
      <p:sp>
        <p:nvSpPr>
          <p:cNvPr id="15" name="cardExplain"/>
          <p:cNvSpPr/>
          <p:nvPr/>
        </p:nvSpPr>
        <p:spPr>
          <a:xfrm>
            <a:off x="6126480" y="1143000"/>
            <a:ext cx="2560320" cy="2743200"/>
          </a:xfrm>
          <a:prstGeom prst="roundRect">
            <a:avLst>
              <a:gd name="adj" fmla="val 2857"/>
            </a:avLst>
          </a:prstGeom>
          <a:solidFill>
            <a:schemeClr val="bg2"/>
          </a:solidFill>
          <a:ln/>
        </p:spPr>
      </p:sp>
      <p:sp>
        <p:nvSpPr>
          <p:cNvPr id="16" name="num3"/>
          <p:cNvSpPr/>
          <p:nvPr/>
        </p:nvSpPr>
        <p:spPr>
          <a:xfrm>
            <a:off x="6400800" y="1371600"/>
            <a:ext cx="548640" cy="548640"/>
          </a:xfrm>
          <a:prstGeom prst="ellipse">
            <a:avLst/>
          </a:prstGeom>
          <a:solidFill>
            <a:schemeClr val="accent3"/>
          </a:solidFill>
          <a:ln/>
        </p:spPr>
      </p:sp>
      <p:sp>
        <p:nvSpPr>
          <p:cNvPr id="17" name="Text 15"/>
          <p:cNvSpPr txBox="1"/>
          <p:nvPr/>
        </p:nvSpPr>
        <p:spPr>
          <a:xfrm>
            <a:off x="640080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6400800" y="2057400"/>
            <a:ext cx="2103120" cy="41148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Explain</a:t>
            </a:r>
            <a:endParaRPr lang="en-US" sz="2200" dirty="0"/>
          </a:p>
        </p:txBody>
      </p:sp>
      <p:sp>
        <p:nvSpPr>
          <p:cNvPr id="19" name="Text 17"/>
          <p:cNvSpPr txBox="1"/>
          <p:nvPr/>
        </p:nvSpPr>
        <p:spPr>
          <a:xfrm>
            <a:off x="6400800" y="2514600"/>
            <a:ext cx="2103120" cy="914400"/>
          </a:xfrm>
          <a:prstGeom prst="rect">
            <a:avLst/>
          </a:prstGeom>
          <a:noFill/>
          <a:ln/>
        </p:spPr>
        <p:txBody>
          <a:bodyPr wrap="square" lIns="0" tIns="0" rIns="0" bIns="0" rtlCol="0" anchor="t"/>
          <a:lstStyle/>
          <a:p>
            <a:pPr indent="0" marL="0">
              <a:buNone/>
            </a:pPr>
            <a:r>
              <a:rPr lang="en-US" sz="1400" dirty="0">
                <a:solidFill>
                  <a:schemeClr val="tx1"/>
                </a:solidFill>
              </a:rPr>
              <a:t>An AI Copilot explains the likely cause in plain English and suggests what to check</a:t>
            </a:r>
            <a:endParaRPr lang="en-US" sz="1400" dirty="0"/>
          </a:p>
        </p:txBody>
      </p:sp>
      <p:sp>
        <p:nvSpPr>
          <p:cNvPr id="20" name="Text 18"/>
          <p:cNvSpPr txBox="1"/>
          <p:nvPr/>
        </p:nvSpPr>
        <p:spPr>
          <a:xfrm>
            <a:off x="6400800" y="3474720"/>
            <a:ext cx="2103120" cy="274320"/>
          </a:xfrm>
          <a:prstGeom prst="rect">
            <a:avLst/>
          </a:prstGeom>
          <a:noFill/>
          <a:ln/>
        </p:spPr>
        <p:txBody>
          <a:bodyPr wrap="square" lIns="0" tIns="0" rIns="0" bIns="0" rtlCol="0" anchor="t"/>
          <a:lstStyle/>
          <a:p>
            <a:pPr indent="0" marL="0">
              <a:buNone/>
            </a:pPr>
            <a:r>
              <a:rPr lang="en-US" sz="1200" i="1" dirty="0">
                <a:solidFill>
                  <a:schemeClr val="accent5"/>
                </a:solidFill>
              </a:rPr>
              <a:t>RAG + LLM</a:t>
            </a:r>
            <a:endParaRPr lang="en-US" sz="1200" dirty="0"/>
          </a:p>
        </p:txBody>
      </p:sp>
      <p:sp>
        <p:nvSpPr>
          <p:cNvPr id="21" name="boundary"/>
          <p:cNvSpPr/>
          <p:nvPr/>
        </p:nvSpPr>
        <p:spPr>
          <a:xfrm>
            <a:off x="457200" y="4069080"/>
            <a:ext cx="8229600" cy="502920"/>
          </a:xfrm>
          <a:prstGeom prst="roundRect">
            <a:avLst>
              <a:gd name="adj" fmla="val 14545"/>
            </a:avLst>
          </a:prstGeom>
          <a:solidFill>
            <a:schemeClr val="tx2"/>
          </a:solidFill>
          <a:ln/>
        </p:spPr>
      </p:sp>
      <p:sp>
        <p:nvSpPr>
          <p:cNvPr id="22" name="Text 20"/>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400" b="1" dirty="0">
                <a:solidFill>
                  <a:schemeClr val="bg1"/>
                </a:solidFill>
              </a:rPr>
              <a:t>Real network data is the foundation. The AI only explains it and never controls the network.</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Proposed system architecture</a:t>
            </a:r>
            <a:endParaRPr lang="en-US" sz="2800" dirty="0"/>
          </a:p>
        </p:txBody>
      </p:sp>
      <p:sp>
        <p:nvSpPr>
          <p:cNvPr id="3" name="liveCapture"/>
          <p:cNvSpPr/>
          <p:nvPr/>
        </p:nvSpPr>
        <p:spPr>
          <a:xfrm>
            <a:off x="411480" y="1783080"/>
            <a:ext cx="1188720" cy="713232"/>
          </a:xfrm>
          <a:prstGeom prst="roundRect">
            <a:avLst>
              <a:gd name="adj" fmla="val 10256"/>
            </a:avLst>
          </a:prstGeom>
          <a:solidFill>
            <a:schemeClr val="accent1"/>
          </a:solidFill>
          <a:ln/>
        </p:spPr>
      </p:sp>
      <p:sp>
        <p:nvSpPr>
          <p:cNvPr id="4" name="Text 2"/>
          <p:cNvSpPr txBox="1"/>
          <p:nvPr/>
        </p:nvSpPr>
        <p:spPr>
          <a:xfrm>
            <a:off x="466344" y="1783080"/>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Live Capture</a:t>
            </a:r>
            <a:endParaRPr lang="en-US" sz="1400" dirty="0"/>
          </a:p>
          <a:p>
            <a:pPr algn="ctr" indent="0" marL="0">
              <a:buNone/>
            </a:pPr>
            <a:r>
              <a:rPr lang="en-US" sz="1000" dirty="0">
                <a:solidFill>
                  <a:schemeClr val="bg1"/>
                </a:solidFill>
              </a:rPr>
              <a:t>Scapy</a:t>
            </a:r>
            <a:endParaRPr lang="en-US" sz="1400" dirty="0"/>
          </a:p>
        </p:txBody>
      </p:sp>
      <p:sp>
        <p:nvSpPr>
          <p:cNvPr id="5" name="ns2"/>
          <p:cNvSpPr/>
          <p:nvPr/>
        </p:nvSpPr>
        <p:spPr>
          <a:xfrm>
            <a:off x="411480" y="2990088"/>
            <a:ext cx="1188720" cy="713232"/>
          </a:xfrm>
          <a:prstGeom prst="roundRect">
            <a:avLst>
              <a:gd name="adj" fmla="val 10256"/>
            </a:avLst>
          </a:prstGeom>
          <a:solidFill>
            <a:schemeClr val="accent1"/>
          </a:solidFill>
          <a:ln w="19050">
            <a:solidFill>
              <a:schemeClr val="accent2"/>
            </a:solidFill>
            <a:prstDash val="solid"/>
          </a:ln>
        </p:spPr>
      </p:sp>
      <p:sp>
        <p:nvSpPr>
          <p:cNvPr id="6" name="Text 4"/>
          <p:cNvSpPr txBox="1"/>
          <p:nvPr/>
        </p:nvSpPr>
        <p:spPr>
          <a:xfrm>
            <a:off x="466344" y="2990088"/>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NS2 Simulation</a:t>
            </a:r>
            <a:endParaRPr lang="en-US" sz="1400" dirty="0"/>
          </a:p>
          <a:p>
            <a:pPr algn="ctr" indent="0" marL="0">
              <a:buNone/>
            </a:pPr>
            <a:r>
              <a:rPr lang="en-US" sz="1000" dirty="0">
                <a:solidFill>
                  <a:schemeClr val="bg1"/>
                </a:solidFill>
              </a:rPr>
              <a:t>trace file</a:t>
            </a:r>
            <a:endParaRPr lang="en-US" sz="1400" dirty="0"/>
          </a:p>
        </p:txBody>
      </p:sp>
      <p:sp>
        <p:nvSpPr>
          <p:cNvPr id="7" name="Text 5"/>
          <p:cNvSpPr txBox="1"/>
          <p:nvPr/>
        </p:nvSpPr>
        <p:spPr>
          <a:xfrm>
            <a:off x="1188720" y="2852928"/>
            <a:ext cx="457200" cy="219456"/>
          </a:xfrm>
          <a:prstGeom prst="rect">
            <a:avLst/>
          </a:prstGeom>
          <a:solidFill>
            <a:schemeClr val="accent2"/>
          </a:solidFill>
          <a:ln/>
        </p:spPr>
        <p:txBody>
          <a:bodyPr wrap="square" lIns="0" tIns="0" rIns="0" bIns="0" rtlCol="0" anchor="ctr"/>
          <a:lstStyle/>
          <a:p>
            <a:pPr algn="ctr" indent="0" marL="0">
              <a:buNone/>
            </a:pPr>
            <a:r>
              <a:rPr lang="en-US" sz="1000" b="1" dirty="0">
                <a:solidFill>
                  <a:schemeClr val="bg1"/>
                </a:solidFill>
              </a:rPr>
              <a:t>NEW</a:t>
            </a:r>
            <a:endParaRPr lang="en-US" sz="1000" dirty="0"/>
          </a:p>
        </p:txBody>
      </p:sp>
      <p:sp>
        <p:nvSpPr>
          <p:cNvPr id="8" name="trafficAnalyzer"/>
          <p:cNvSpPr/>
          <p:nvPr/>
        </p:nvSpPr>
        <p:spPr>
          <a:xfrm>
            <a:off x="1856232" y="2386584"/>
            <a:ext cx="1188720" cy="713232"/>
          </a:xfrm>
          <a:prstGeom prst="roundRect">
            <a:avLst>
              <a:gd name="adj" fmla="val 10256"/>
            </a:avLst>
          </a:prstGeom>
          <a:solidFill>
            <a:schemeClr val="accent1"/>
          </a:solidFill>
          <a:ln/>
        </p:spPr>
      </p:sp>
      <p:sp>
        <p:nvSpPr>
          <p:cNvPr id="9" name="Text 7"/>
          <p:cNvSpPr txBox="1"/>
          <p:nvPr/>
        </p:nvSpPr>
        <p:spPr>
          <a:xfrm>
            <a:off x="1911096" y="2386584"/>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Traffic Analyzer</a:t>
            </a:r>
            <a:endParaRPr lang="en-US" sz="1400" dirty="0"/>
          </a:p>
          <a:p>
            <a:pPr algn="ctr" indent="0" marL="0">
              <a:buNone/>
            </a:pPr>
            <a:r>
              <a:rPr lang="en-US" sz="1000" dirty="0">
                <a:solidFill>
                  <a:schemeClr val="bg1"/>
                </a:solidFill>
              </a:rPr>
              <a:t>TCP UDP ICMP DNS HTTP</a:t>
            </a:r>
            <a:endParaRPr lang="en-US" sz="1400" dirty="0"/>
          </a:p>
        </p:txBody>
      </p:sp>
      <p:sp>
        <p:nvSpPr>
          <p:cNvPr id="10" name="perf"/>
          <p:cNvSpPr/>
          <p:nvPr/>
        </p:nvSpPr>
        <p:spPr>
          <a:xfrm>
            <a:off x="3300984" y="1280160"/>
            <a:ext cx="1188720" cy="713232"/>
          </a:xfrm>
          <a:prstGeom prst="roundRect">
            <a:avLst>
              <a:gd name="adj" fmla="val 10256"/>
            </a:avLst>
          </a:prstGeom>
          <a:solidFill>
            <a:schemeClr val="accent1"/>
          </a:solidFill>
          <a:ln/>
        </p:spPr>
      </p:sp>
      <p:sp>
        <p:nvSpPr>
          <p:cNvPr id="11" name="Text 9"/>
          <p:cNvSpPr txBox="1"/>
          <p:nvPr/>
        </p:nvSpPr>
        <p:spPr>
          <a:xfrm>
            <a:off x="3355848" y="1280160"/>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Performance</a:t>
            </a:r>
            <a:endParaRPr lang="en-US" sz="1400" dirty="0"/>
          </a:p>
          <a:p>
            <a:pPr algn="ctr" indent="0" marL="0">
              <a:buNone/>
            </a:pPr>
            <a:r>
              <a:rPr lang="en-US" sz="1000" dirty="0">
                <a:solidFill>
                  <a:schemeClr val="bg1"/>
                </a:solidFill>
              </a:rPr>
              <a:t>latency, loss, jitter</a:t>
            </a:r>
            <a:endParaRPr lang="en-US" sz="1400" dirty="0"/>
          </a:p>
        </p:txBody>
      </p:sp>
      <p:sp>
        <p:nvSpPr>
          <p:cNvPr id="12" name="topo"/>
          <p:cNvSpPr/>
          <p:nvPr/>
        </p:nvSpPr>
        <p:spPr>
          <a:xfrm>
            <a:off x="3300984" y="2386584"/>
            <a:ext cx="1188720" cy="713232"/>
          </a:xfrm>
          <a:prstGeom prst="roundRect">
            <a:avLst>
              <a:gd name="adj" fmla="val 10256"/>
            </a:avLst>
          </a:prstGeom>
          <a:solidFill>
            <a:schemeClr val="accent1"/>
          </a:solidFill>
          <a:ln/>
        </p:spPr>
      </p:sp>
      <p:sp>
        <p:nvSpPr>
          <p:cNvPr id="13" name="Text 11"/>
          <p:cNvSpPr txBox="1"/>
          <p:nvPr/>
        </p:nvSpPr>
        <p:spPr>
          <a:xfrm>
            <a:off x="3355848" y="2386584"/>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Topology + Routing</a:t>
            </a:r>
            <a:endParaRPr lang="en-US" sz="1400" dirty="0"/>
          </a:p>
          <a:p>
            <a:pPr algn="ctr" indent="0" marL="0">
              <a:buNone/>
            </a:pPr>
            <a:r>
              <a:rPr lang="en-US" sz="1000" dirty="0">
                <a:solidFill>
                  <a:schemeClr val="bg1"/>
                </a:solidFill>
              </a:rPr>
              <a:t>graph, Dijkstra</a:t>
            </a:r>
            <a:endParaRPr lang="en-US" sz="1400" dirty="0"/>
          </a:p>
        </p:txBody>
      </p:sp>
      <p:sp>
        <p:nvSpPr>
          <p:cNvPr id="14" name="ml"/>
          <p:cNvSpPr/>
          <p:nvPr/>
        </p:nvSpPr>
        <p:spPr>
          <a:xfrm>
            <a:off x="3300984" y="3493008"/>
            <a:ext cx="1188720" cy="713232"/>
          </a:xfrm>
          <a:prstGeom prst="roundRect">
            <a:avLst>
              <a:gd name="adj" fmla="val 10256"/>
            </a:avLst>
          </a:prstGeom>
          <a:solidFill>
            <a:schemeClr val="accent2"/>
          </a:solidFill>
          <a:ln/>
        </p:spPr>
      </p:sp>
      <p:sp>
        <p:nvSpPr>
          <p:cNvPr id="15" name="Text 13"/>
          <p:cNvSpPr txBox="1"/>
          <p:nvPr/>
        </p:nvSpPr>
        <p:spPr>
          <a:xfrm>
            <a:off x="3355848" y="3493008"/>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ML Anomaly</a:t>
            </a:r>
            <a:endParaRPr lang="en-US" sz="1400" dirty="0"/>
          </a:p>
          <a:p>
            <a:pPr algn="ctr" indent="0" marL="0">
              <a:buNone/>
            </a:pPr>
            <a:r>
              <a:rPr lang="en-US" sz="1000" dirty="0">
                <a:solidFill>
                  <a:schemeClr val="bg1"/>
                </a:solidFill>
              </a:rPr>
              <a:t>Isolation Forest</a:t>
            </a:r>
            <a:endParaRPr lang="en-US" sz="1400" dirty="0"/>
          </a:p>
        </p:txBody>
      </p:sp>
      <p:sp>
        <p:nvSpPr>
          <p:cNvPr id="16" name="db"/>
          <p:cNvSpPr/>
          <p:nvPr/>
        </p:nvSpPr>
        <p:spPr>
          <a:xfrm>
            <a:off x="4745736" y="2386584"/>
            <a:ext cx="1188720" cy="713232"/>
          </a:xfrm>
          <a:prstGeom prst="roundRect">
            <a:avLst>
              <a:gd name="adj" fmla="val 10256"/>
            </a:avLst>
          </a:prstGeom>
          <a:solidFill>
            <a:schemeClr val="accent5"/>
          </a:solidFill>
          <a:ln/>
        </p:spPr>
      </p:sp>
      <p:sp>
        <p:nvSpPr>
          <p:cNvPr id="17" name="Text 15"/>
          <p:cNvSpPr txBox="1"/>
          <p:nvPr/>
        </p:nvSpPr>
        <p:spPr>
          <a:xfrm>
            <a:off x="4800600" y="2386584"/>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State Database</a:t>
            </a:r>
            <a:endParaRPr lang="en-US" sz="1400" dirty="0"/>
          </a:p>
          <a:p>
            <a:pPr algn="ctr" indent="0" marL="0">
              <a:buNone/>
            </a:pPr>
            <a:r>
              <a:rPr lang="en-US" sz="1000" dirty="0">
                <a:solidFill>
                  <a:schemeClr val="bg1"/>
                </a:solidFill>
              </a:rPr>
              <a:t>SQLite</a:t>
            </a:r>
            <a:endParaRPr lang="en-US" sz="1400" dirty="0"/>
          </a:p>
        </p:txBody>
      </p:sp>
      <p:sp>
        <p:nvSpPr>
          <p:cNvPr id="18" name="rag"/>
          <p:cNvSpPr/>
          <p:nvPr/>
        </p:nvSpPr>
        <p:spPr>
          <a:xfrm>
            <a:off x="6190488" y="1783080"/>
            <a:ext cx="1188720" cy="713232"/>
          </a:xfrm>
          <a:prstGeom prst="roundRect">
            <a:avLst>
              <a:gd name="adj" fmla="val 10256"/>
            </a:avLst>
          </a:prstGeom>
          <a:solidFill>
            <a:schemeClr val="accent2"/>
          </a:solidFill>
          <a:ln/>
        </p:spPr>
      </p:sp>
      <p:sp>
        <p:nvSpPr>
          <p:cNvPr id="19" name="Text 17"/>
          <p:cNvSpPr txBox="1"/>
          <p:nvPr/>
        </p:nvSpPr>
        <p:spPr>
          <a:xfrm>
            <a:off x="6245352" y="1783080"/>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RAG Engine</a:t>
            </a:r>
            <a:endParaRPr lang="en-US" sz="1400" dirty="0"/>
          </a:p>
          <a:p>
            <a:pPr algn="ctr" indent="0" marL="0">
              <a:buNone/>
            </a:pPr>
            <a:r>
              <a:rPr lang="en-US" sz="1000" dirty="0">
                <a:solidFill>
                  <a:schemeClr val="bg1"/>
                </a:solidFill>
              </a:rPr>
              <a:t>networking notes</a:t>
            </a:r>
            <a:endParaRPr lang="en-US" sz="1400" dirty="0"/>
          </a:p>
        </p:txBody>
      </p:sp>
      <p:sp>
        <p:nvSpPr>
          <p:cNvPr id="20" name="llm"/>
          <p:cNvSpPr/>
          <p:nvPr/>
        </p:nvSpPr>
        <p:spPr>
          <a:xfrm>
            <a:off x="6190488" y="2990088"/>
            <a:ext cx="1188720" cy="713232"/>
          </a:xfrm>
          <a:prstGeom prst="roundRect">
            <a:avLst>
              <a:gd name="adj" fmla="val 10256"/>
            </a:avLst>
          </a:prstGeom>
          <a:solidFill>
            <a:schemeClr val="accent2"/>
          </a:solidFill>
          <a:ln/>
        </p:spPr>
      </p:sp>
      <p:sp>
        <p:nvSpPr>
          <p:cNvPr id="21" name="Text 19"/>
          <p:cNvSpPr txBox="1"/>
          <p:nvPr/>
        </p:nvSpPr>
        <p:spPr>
          <a:xfrm>
            <a:off x="6245352" y="2990088"/>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LLM Copilot</a:t>
            </a:r>
            <a:endParaRPr lang="en-US" sz="1400" dirty="0"/>
          </a:p>
          <a:p>
            <a:pPr algn="ctr" indent="0" marL="0">
              <a:buNone/>
            </a:pPr>
            <a:r>
              <a:rPr lang="en-US" sz="1000" dirty="0">
                <a:solidFill>
                  <a:schemeClr val="bg1"/>
                </a:solidFill>
              </a:rPr>
              <a:t>explanation</a:t>
            </a:r>
            <a:endParaRPr lang="en-US" sz="1400" dirty="0"/>
          </a:p>
        </p:txBody>
      </p:sp>
      <p:sp>
        <p:nvSpPr>
          <p:cNvPr id="22" name="dash"/>
          <p:cNvSpPr/>
          <p:nvPr/>
        </p:nvSpPr>
        <p:spPr>
          <a:xfrm>
            <a:off x="7543800" y="2386584"/>
            <a:ext cx="1188720" cy="713232"/>
          </a:xfrm>
          <a:prstGeom prst="roundRect">
            <a:avLst>
              <a:gd name="adj" fmla="val 10256"/>
            </a:avLst>
          </a:prstGeom>
          <a:solidFill>
            <a:schemeClr val="accent3"/>
          </a:solidFill>
          <a:ln/>
        </p:spPr>
      </p:sp>
      <p:sp>
        <p:nvSpPr>
          <p:cNvPr id="23" name="Text 21"/>
          <p:cNvSpPr txBox="1"/>
          <p:nvPr/>
        </p:nvSpPr>
        <p:spPr>
          <a:xfrm>
            <a:off x="7598664" y="2386584"/>
            <a:ext cx="1078992" cy="713232"/>
          </a:xfrm>
          <a:prstGeom prst="rect">
            <a:avLst/>
          </a:prstGeom>
          <a:noFill/>
          <a:ln/>
        </p:spPr>
        <p:txBody>
          <a:bodyPr wrap="square" lIns="0" tIns="0" rIns="0" bIns="0" rtlCol="0" anchor="ctr"/>
          <a:lstStyle/>
          <a:p>
            <a:pPr algn="ctr" indent="0" marL="0">
              <a:buNone/>
            </a:pPr>
            <a:r>
              <a:rPr lang="en-US" sz="1200" b="1" dirty="0">
                <a:solidFill>
                  <a:schemeClr val="bg1"/>
                </a:solidFill>
              </a:rPr>
              <a:t>Dashboard</a:t>
            </a:r>
            <a:endParaRPr lang="en-US" sz="1400" dirty="0"/>
          </a:p>
          <a:p>
            <a:pPr algn="ctr" indent="0" marL="0">
              <a:buNone/>
            </a:pPr>
            <a:r>
              <a:rPr lang="en-US" sz="1000" dirty="0">
                <a:solidFill>
                  <a:schemeClr val="bg1"/>
                </a:solidFill>
              </a:rPr>
              <a:t>Streamlit</a:t>
            </a:r>
            <a:endParaRPr lang="en-US" sz="1400" dirty="0"/>
          </a:p>
        </p:txBody>
      </p:sp>
      <p:sp>
        <p:nvSpPr>
          <p:cNvPr id="24" name="Shape 22"/>
          <p:cNvSpPr/>
          <p:nvPr/>
        </p:nvSpPr>
        <p:spPr>
          <a:xfrm>
            <a:off x="1600200" y="2139696"/>
            <a:ext cx="256032" cy="493776"/>
          </a:xfrm>
          <a:prstGeom prst="line">
            <a:avLst/>
          </a:prstGeom>
          <a:noFill/>
          <a:ln w="19050">
            <a:solidFill>
              <a:schemeClr val="accent5"/>
            </a:solidFill>
            <a:prstDash val="solid"/>
            <a:tailEnd type="triangle"/>
          </a:ln>
        </p:spPr>
      </p:sp>
      <p:sp>
        <p:nvSpPr>
          <p:cNvPr id="25" name="Shape 23"/>
          <p:cNvSpPr/>
          <p:nvPr/>
        </p:nvSpPr>
        <p:spPr>
          <a:xfrm flipV="1">
            <a:off x="1600200" y="2852928"/>
            <a:ext cx="256032" cy="493776"/>
          </a:xfrm>
          <a:prstGeom prst="line">
            <a:avLst/>
          </a:prstGeom>
          <a:noFill/>
          <a:ln w="19050">
            <a:solidFill>
              <a:schemeClr val="accent5"/>
            </a:solidFill>
            <a:prstDash val="solid"/>
            <a:tailEnd type="triangle"/>
          </a:ln>
        </p:spPr>
      </p:sp>
      <p:sp>
        <p:nvSpPr>
          <p:cNvPr id="26" name="Shape 24"/>
          <p:cNvSpPr/>
          <p:nvPr/>
        </p:nvSpPr>
        <p:spPr>
          <a:xfrm flipV="1">
            <a:off x="3044952" y="1636776"/>
            <a:ext cx="256032" cy="1106424"/>
          </a:xfrm>
          <a:prstGeom prst="line">
            <a:avLst/>
          </a:prstGeom>
          <a:noFill/>
          <a:ln w="19050">
            <a:solidFill>
              <a:schemeClr val="accent5"/>
            </a:solidFill>
            <a:prstDash val="solid"/>
            <a:tailEnd type="triangle"/>
          </a:ln>
        </p:spPr>
      </p:sp>
      <p:sp>
        <p:nvSpPr>
          <p:cNvPr id="27" name="Shape 25"/>
          <p:cNvSpPr/>
          <p:nvPr/>
        </p:nvSpPr>
        <p:spPr>
          <a:xfrm>
            <a:off x="3044952" y="2743200"/>
            <a:ext cx="256032" cy="914"/>
          </a:xfrm>
          <a:prstGeom prst="line">
            <a:avLst/>
          </a:prstGeom>
          <a:noFill/>
          <a:ln w="19050">
            <a:solidFill>
              <a:schemeClr val="accent5"/>
            </a:solidFill>
            <a:prstDash val="solid"/>
            <a:tailEnd type="triangle"/>
          </a:ln>
        </p:spPr>
      </p:sp>
      <p:sp>
        <p:nvSpPr>
          <p:cNvPr id="28" name="Shape 26"/>
          <p:cNvSpPr/>
          <p:nvPr/>
        </p:nvSpPr>
        <p:spPr>
          <a:xfrm>
            <a:off x="3044952" y="2743200"/>
            <a:ext cx="256032" cy="1106424"/>
          </a:xfrm>
          <a:prstGeom prst="line">
            <a:avLst/>
          </a:prstGeom>
          <a:noFill/>
          <a:ln w="19050">
            <a:solidFill>
              <a:schemeClr val="accent5"/>
            </a:solidFill>
            <a:prstDash val="solid"/>
            <a:tailEnd type="triangle"/>
          </a:ln>
        </p:spPr>
      </p:sp>
      <p:sp>
        <p:nvSpPr>
          <p:cNvPr id="29" name="Shape 27"/>
          <p:cNvSpPr/>
          <p:nvPr/>
        </p:nvSpPr>
        <p:spPr>
          <a:xfrm>
            <a:off x="4489704" y="1636776"/>
            <a:ext cx="256032" cy="1106424"/>
          </a:xfrm>
          <a:prstGeom prst="line">
            <a:avLst/>
          </a:prstGeom>
          <a:noFill/>
          <a:ln w="19050">
            <a:solidFill>
              <a:schemeClr val="accent5"/>
            </a:solidFill>
            <a:prstDash val="solid"/>
            <a:tailEnd type="triangle"/>
          </a:ln>
        </p:spPr>
      </p:sp>
      <p:sp>
        <p:nvSpPr>
          <p:cNvPr id="30" name="Shape 28"/>
          <p:cNvSpPr/>
          <p:nvPr/>
        </p:nvSpPr>
        <p:spPr>
          <a:xfrm>
            <a:off x="4489704" y="2743200"/>
            <a:ext cx="256032" cy="914"/>
          </a:xfrm>
          <a:prstGeom prst="line">
            <a:avLst/>
          </a:prstGeom>
          <a:noFill/>
          <a:ln w="19050">
            <a:solidFill>
              <a:schemeClr val="accent5"/>
            </a:solidFill>
            <a:prstDash val="solid"/>
            <a:tailEnd type="triangle"/>
          </a:ln>
        </p:spPr>
      </p:sp>
      <p:sp>
        <p:nvSpPr>
          <p:cNvPr id="31" name="Shape 29"/>
          <p:cNvSpPr/>
          <p:nvPr/>
        </p:nvSpPr>
        <p:spPr>
          <a:xfrm flipV="1">
            <a:off x="4489704" y="2743200"/>
            <a:ext cx="256032" cy="1106424"/>
          </a:xfrm>
          <a:prstGeom prst="line">
            <a:avLst/>
          </a:prstGeom>
          <a:noFill/>
          <a:ln w="19050">
            <a:solidFill>
              <a:schemeClr val="accent5"/>
            </a:solidFill>
            <a:prstDash val="solid"/>
            <a:tailEnd type="triangle"/>
          </a:ln>
        </p:spPr>
      </p:sp>
      <p:sp>
        <p:nvSpPr>
          <p:cNvPr id="32" name="Shape 30"/>
          <p:cNvSpPr/>
          <p:nvPr/>
        </p:nvSpPr>
        <p:spPr>
          <a:xfrm flipV="1">
            <a:off x="5934456" y="2139696"/>
            <a:ext cx="256032" cy="466344"/>
          </a:xfrm>
          <a:prstGeom prst="line">
            <a:avLst/>
          </a:prstGeom>
          <a:noFill/>
          <a:ln w="19050">
            <a:solidFill>
              <a:schemeClr val="accent5"/>
            </a:solidFill>
            <a:prstDash val="solid"/>
            <a:tailEnd type="triangle"/>
          </a:ln>
        </p:spPr>
      </p:sp>
      <p:sp>
        <p:nvSpPr>
          <p:cNvPr id="33" name="Shape 31"/>
          <p:cNvSpPr/>
          <p:nvPr/>
        </p:nvSpPr>
        <p:spPr>
          <a:xfrm>
            <a:off x="5934456" y="2880360"/>
            <a:ext cx="256032" cy="466344"/>
          </a:xfrm>
          <a:prstGeom prst="line">
            <a:avLst/>
          </a:prstGeom>
          <a:noFill/>
          <a:ln w="19050">
            <a:solidFill>
              <a:schemeClr val="accent5"/>
            </a:solidFill>
            <a:prstDash val="solid"/>
            <a:tailEnd type="triangle"/>
          </a:ln>
        </p:spPr>
      </p:sp>
      <p:sp>
        <p:nvSpPr>
          <p:cNvPr id="34" name="Shape 32"/>
          <p:cNvSpPr/>
          <p:nvPr/>
        </p:nvSpPr>
        <p:spPr>
          <a:xfrm>
            <a:off x="6784848" y="2496312"/>
            <a:ext cx="914" cy="493776"/>
          </a:xfrm>
          <a:prstGeom prst="line">
            <a:avLst/>
          </a:prstGeom>
          <a:noFill/>
          <a:ln w="19050">
            <a:solidFill>
              <a:schemeClr val="accent5"/>
            </a:solidFill>
            <a:prstDash val="solid"/>
            <a:tailEnd type="triangle"/>
          </a:ln>
        </p:spPr>
      </p:sp>
      <p:sp>
        <p:nvSpPr>
          <p:cNvPr id="35" name="Shape 33"/>
          <p:cNvSpPr/>
          <p:nvPr/>
        </p:nvSpPr>
        <p:spPr>
          <a:xfrm flipV="1">
            <a:off x="7379208" y="2880360"/>
            <a:ext cx="164592" cy="466344"/>
          </a:xfrm>
          <a:prstGeom prst="line">
            <a:avLst/>
          </a:prstGeom>
          <a:noFill/>
          <a:ln w="19050">
            <a:solidFill>
              <a:schemeClr val="accent5"/>
            </a:solidFill>
            <a:prstDash val="solid"/>
            <a:tailEnd type="triangle"/>
          </a:ln>
        </p:spPr>
      </p:sp>
      <p:sp>
        <p:nvSpPr>
          <p:cNvPr id="36" name="Shape 34"/>
          <p:cNvSpPr/>
          <p:nvPr/>
        </p:nvSpPr>
        <p:spPr>
          <a:xfrm flipV="1">
            <a:off x="5980176" y="2697480"/>
            <a:ext cx="1563624" cy="45720"/>
          </a:xfrm>
          <a:prstGeom prst="line">
            <a:avLst/>
          </a:prstGeom>
          <a:noFill/>
          <a:ln w="19050">
            <a:solidFill>
              <a:schemeClr val="accent5"/>
            </a:solidFill>
            <a:prstDash val="dash"/>
            <a:tailEnd type="triangle"/>
          </a:ln>
        </p:spPr>
      </p:sp>
      <p:sp>
        <p:nvSpPr>
          <p:cNvPr id="37" name="leg0"/>
          <p:cNvSpPr/>
          <p:nvPr/>
        </p:nvSpPr>
        <p:spPr>
          <a:xfrm>
            <a:off x="457200" y="4434840"/>
            <a:ext cx="182880" cy="182880"/>
          </a:xfrm>
          <a:prstGeom prst="rect">
            <a:avLst/>
          </a:prstGeom>
          <a:solidFill>
            <a:schemeClr val="accent1"/>
          </a:solidFill>
          <a:ln/>
        </p:spPr>
      </p:sp>
      <p:sp>
        <p:nvSpPr>
          <p:cNvPr id="38" name="Text 36"/>
          <p:cNvSpPr txBox="1"/>
          <p:nvPr/>
        </p:nvSpPr>
        <p:spPr>
          <a:xfrm>
            <a:off x="731520" y="4407408"/>
            <a:ext cx="1463040" cy="237744"/>
          </a:xfrm>
          <a:prstGeom prst="rect">
            <a:avLst/>
          </a:prstGeom>
          <a:noFill/>
          <a:ln/>
        </p:spPr>
        <p:txBody>
          <a:bodyPr wrap="square" lIns="0" tIns="0" rIns="0" bIns="0" rtlCol="0" anchor="ctr"/>
          <a:lstStyle/>
          <a:p>
            <a:pPr indent="0" marL="0">
              <a:buNone/>
            </a:pPr>
            <a:r>
              <a:rPr lang="en-US" sz="1100" dirty="0">
                <a:solidFill>
                  <a:schemeClr val="tx1"/>
                </a:solidFill>
              </a:rPr>
              <a:t>Networking core</a:t>
            </a:r>
            <a:endParaRPr lang="en-US" sz="1100" dirty="0"/>
          </a:p>
        </p:txBody>
      </p:sp>
      <p:sp>
        <p:nvSpPr>
          <p:cNvPr id="39" name="leg1"/>
          <p:cNvSpPr/>
          <p:nvPr/>
        </p:nvSpPr>
        <p:spPr>
          <a:xfrm>
            <a:off x="2286000" y="4434840"/>
            <a:ext cx="182880" cy="182880"/>
          </a:xfrm>
          <a:prstGeom prst="rect">
            <a:avLst/>
          </a:prstGeom>
          <a:solidFill>
            <a:schemeClr val="accent2"/>
          </a:solidFill>
          <a:ln/>
        </p:spPr>
      </p:sp>
      <p:sp>
        <p:nvSpPr>
          <p:cNvPr id="40" name="Text 38"/>
          <p:cNvSpPr txBox="1"/>
          <p:nvPr/>
        </p:nvSpPr>
        <p:spPr>
          <a:xfrm>
            <a:off x="2560320" y="4407408"/>
            <a:ext cx="1463040" cy="237744"/>
          </a:xfrm>
          <a:prstGeom prst="rect">
            <a:avLst/>
          </a:prstGeom>
          <a:noFill/>
          <a:ln/>
        </p:spPr>
        <p:txBody>
          <a:bodyPr wrap="square" lIns="0" tIns="0" rIns="0" bIns="0" rtlCol="0" anchor="ctr"/>
          <a:lstStyle/>
          <a:p>
            <a:pPr indent="0" marL="0">
              <a:buNone/>
            </a:pPr>
            <a:r>
              <a:rPr lang="en-US" sz="1100" dirty="0">
                <a:solidFill>
                  <a:schemeClr val="tx1"/>
                </a:solidFill>
              </a:rPr>
              <a:t>AI layer</a:t>
            </a:r>
            <a:endParaRPr lang="en-US" sz="1100" dirty="0"/>
          </a:p>
        </p:txBody>
      </p:sp>
      <p:sp>
        <p:nvSpPr>
          <p:cNvPr id="41" name="leg2"/>
          <p:cNvSpPr/>
          <p:nvPr/>
        </p:nvSpPr>
        <p:spPr>
          <a:xfrm>
            <a:off x="4114800" y="4434840"/>
            <a:ext cx="182880" cy="182880"/>
          </a:xfrm>
          <a:prstGeom prst="rect">
            <a:avLst/>
          </a:prstGeom>
          <a:solidFill>
            <a:schemeClr val="accent5"/>
          </a:solidFill>
          <a:ln/>
        </p:spPr>
      </p:sp>
      <p:sp>
        <p:nvSpPr>
          <p:cNvPr id="42" name="Text 40"/>
          <p:cNvSpPr txBox="1"/>
          <p:nvPr/>
        </p:nvSpPr>
        <p:spPr>
          <a:xfrm>
            <a:off x="4389120" y="4407408"/>
            <a:ext cx="1463040" cy="237744"/>
          </a:xfrm>
          <a:prstGeom prst="rect">
            <a:avLst/>
          </a:prstGeom>
          <a:noFill/>
          <a:ln/>
        </p:spPr>
        <p:txBody>
          <a:bodyPr wrap="square" lIns="0" tIns="0" rIns="0" bIns="0" rtlCol="0" anchor="ctr"/>
          <a:lstStyle/>
          <a:p>
            <a:pPr indent="0" marL="0">
              <a:buNone/>
            </a:pPr>
            <a:r>
              <a:rPr lang="en-US" sz="1100" dirty="0">
                <a:solidFill>
                  <a:schemeClr val="tx1"/>
                </a:solidFill>
              </a:rPr>
              <a:t>Storage</a:t>
            </a:r>
            <a:endParaRPr lang="en-US" sz="1100" dirty="0"/>
          </a:p>
        </p:txBody>
      </p:sp>
      <p:sp>
        <p:nvSpPr>
          <p:cNvPr id="43" name="leg3"/>
          <p:cNvSpPr/>
          <p:nvPr/>
        </p:nvSpPr>
        <p:spPr>
          <a:xfrm>
            <a:off x="5943600" y="4434840"/>
            <a:ext cx="182880" cy="182880"/>
          </a:xfrm>
          <a:prstGeom prst="rect">
            <a:avLst/>
          </a:prstGeom>
          <a:solidFill>
            <a:schemeClr val="accent3"/>
          </a:solidFill>
          <a:ln/>
        </p:spPr>
      </p:sp>
      <p:sp>
        <p:nvSpPr>
          <p:cNvPr id="44" name="Text 42"/>
          <p:cNvSpPr txBox="1"/>
          <p:nvPr/>
        </p:nvSpPr>
        <p:spPr>
          <a:xfrm>
            <a:off x="6217920" y="4407408"/>
            <a:ext cx="1463040" cy="237744"/>
          </a:xfrm>
          <a:prstGeom prst="rect">
            <a:avLst/>
          </a:prstGeom>
          <a:noFill/>
          <a:ln/>
        </p:spPr>
        <p:txBody>
          <a:bodyPr wrap="square" lIns="0" tIns="0" rIns="0" bIns="0" rtlCol="0" anchor="ctr"/>
          <a:lstStyle/>
          <a:p>
            <a:pPr indent="0" marL="0">
              <a:buNone/>
            </a:pPr>
            <a:r>
              <a:rPr lang="en-US" sz="1100" dirty="0">
                <a:solidFill>
                  <a:schemeClr val="tx1"/>
                </a:solidFill>
              </a:rPr>
              <a:t>Presentation</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Methodology: NS2 simulation</a:t>
            </a:r>
            <a:endParaRPr lang="en-US" sz="2800" dirty="0"/>
          </a:p>
        </p:txBody>
      </p:sp>
      <p:sp>
        <p:nvSpPr>
          <p:cNvPr id="3" name="topoPanel"/>
          <p:cNvSpPr/>
          <p:nvPr/>
        </p:nvSpPr>
        <p:spPr>
          <a:xfrm>
            <a:off x="457200" y="1097280"/>
            <a:ext cx="3931920" cy="2606040"/>
          </a:xfrm>
          <a:prstGeom prst="roundRect">
            <a:avLst>
              <a:gd name="adj" fmla="val 2807"/>
            </a:avLst>
          </a:prstGeom>
          <a:solidFill>
            <a:schemeClr val="bg2"/>
          </a:solidFill>
          <a:ln/>
        </p:spPr>
      </p:sp>
      <p:sp>
        <p:nvSpPr>
          <p:cNvPr id="4" name="Text 2"/>
          <p:cNvSpPr txBox="1"/>
          <p:nvPr/>
        </p:nvSpPr>
        <p:spPr>
          <a:xfrm>
            <a:off x="640080" y="1188720"/>
            <a:ext cx="3200400" cy="228600"/>
          </a:xfrm>
          <a:prstGeom prst="rect">
            <a:avLst/>
          </a:prstGeom>
          <a:noFill/>
          <a:ln/>
        </p:spPr>
        <p:txBody>
          <a:bodyPr wrap="square" lIns="0" tIns="0" rIns="0" bIns="0" rtlCol="0" anchor="t"/>
          <a:lstStyle/>
          <a:p>
            <a:pPr indent="0" marL="0">
              <a:buNone/>
            </a:pPr>
            <a:r>
              <a:rPr lang="en-US" sz="1100" b="1" dirty="0">
                <a:solidFill>
                  <a:schemeClr val="accent5"/>
                </a:solidFill>
              </a:rPr>
              <a:t>5-NODE NS2 NETWORK</a:t>
            </a:r>
            <a:endParaRPr lang="en-US" sz="1100" dirty="0"/>
          </a:p>
        </p:txBody>
      </p:sp>
      <p:sp>
        <p:nvSpPr>
          <p:cNvPr id="5" name="Shape 3"/>
          <p:cNvSpPr/>
          <p:nvPr/>
        </p:nvSpPr>
        <p:spPr>
          <a:xfrm>
            <a:off x="1005840" y="1783080"/>
            <a:ext cx="1143000" cy="685800"/>
          </a:xfrm>
          <a:prstGeom prst="line">
            <a:avLst/>
          </a:prstGeom>
          <a:noFill/>
          <a:ln w="25400">
            <a:solidFill>
              <a:schemeClr val="accent5"/>
            </a:solidFill>
            <a:prstDash val="solid"/>
          </a:ln>
        </p:spPr>
      </p:sp>
      <p:sp>
        <p:nvSpPr>
          <p:cNvPr id="6" name="Shape 4"/>
          <p:cNvSpPr/>
          <p:nvPr/>
        </p:nvSpPr>
        <p:spPr>
          <a:xfrm flipV="1">
            <a:off x="1005840" y="2468880"/>
            <a:ext cx="1143000" cy="685800"/>
          </a:xfrm>
          <a:prstGeom prst="line">
            <a:avLst/>
          </a:prstGeom>
          <a:noFill/>
          <a:ln w="25400">
            <a:solidFill>
              <a:schemeClr val="accent5"/>
            </a:solidFill>
            <a:prstDash val="solid"/>
          </a:ln>
        </p:spPr>
      </p:sp>
      <p:sp>
        <p:nvSpPr>
          <p:cNvPr id="7" name="Shape 5"/>
          <p:cNvSpPr/>
          <p:nvPr/>
        </p:nvSpPr>
        <p:spPr>
          <a:xfrm>
            <a:off x="2148840" y="2468880"/>
            <a:ext cx="1645920" cy="914"/>
          </a:xfrm>
          <a:prstGeom prst="line">
            <a:avLst/>
          </a:prstGeom>
          <a:noFill/>
          <a:ln w="44450">
            <a:solidFill>
              <a:schemeClr val="accent4"/>
            </a:solidFill>
            <a:prstDash val="solid"/>
          </a:ln>
        </p:spPr>
      </p:sp>
      <p:sp>
        <p:nvSpPr>
          <p:cNvPr id="8" name="Shape 6"/>
          <p:cNvSpPr/>
          <p:nvPr/>
        </p:nvSpPr>
        <p:spPr>
          <a:xfrm>
            <a:off x="2148840" y="2468880"/>
            <a:ext cx="822960" cy="777240"/>
          </a:xfrm>
          <a:prstGeom prst="line">
            <a:avLst/>
          </a:prstGeom>
          <a:noFill/>
          <a:ln w="19050">
            <a:solidFill>
              <a:schemeClr val="accent5"/>
            </a:solidFill>
            <a:prstDash val="dash"/>
          </a:ln>
        </p:spPr>
      </p:sp>
      <p:sp>
        <p:nvSpPr>
          <p:cNvPr id="9" name="Shape 7"/>
          <p:cNvSpPr/>
          <p:nvPr/>
        </p:nvSpPr>
        <p:spPr>
          <a:xfrm flipV="1">
            <a:off x="2971800" y="2468880"/>
            <a:ext cx="822960" cy="777240"/>
          </a:xfrm>
          <a:prstGeom prst="line">
            <a:avLst/>
          </a:prstGeom>
          <a:noFill/>
          <a:ln w="19050">
            <a:solidFill>
              <a:schemeClr val="accent5"/>
            </a:solidFill>
            <a:prstDash val="dash"/>
          </a:ln>
        </p:spPr>
      </p:sp>
      <p:sp>
        <p:nvSpPr>
          <p:cNvPr id="10" name="n0"/>
          <p:cNvSpPr/>
          <p:nvPr/>
        </p:nvSpPr>
        <p:spPr>
          <a:xfrm>
            <a:off x="804672" y="1581912"/>
            <a:ext cx="402336" cy="402336"/>
          </a:xfrm>
          <a:prstGeom prst="ellipse">
            <a:avLst/>
          </a:prstGeom>
          <a:solidFill>
            <a:schemeClr val="accent1"/>
          </a:solidFill>
          <a:ln w="19050">
            <a:solidFill>
              <a:schemeClr val="bg1"/>
            </a:solidFill>
            <a:prstDash val="solid"/>
          </a:ln>
        </p:spPr>
      </p:sp>
      <p:sp>
        <p:nvSpPr>
          <p:cNvPr id="11" name="Text 9"/>
          <p:cNvSpPr txBox="1"/>
          <p:nvPr/>
        </p:nvSpPr>
        <p:spPr>
          <a:xfrm>
            <a:off x="804672" y="1581912"/>
            <a:ext cx="402336" cy="402336"/>
          </a:xfrm>
          <a:prstGeom prst="rect">
            <a:avLst/>
          </a:prstGeom>
          <a:noFill/>
          <a:ln/>
        </p:spPr>
        <p:txBody>
          <a:bodyPr wrap="square" lIns="0" tIns="0" rIns="0" bIns="0" rtlCol="0" anchor="ctr"/>
          <a:lstStyle/>
          <a:p>
            <a:pPr algn="ctr" indent="0" marL="0">
              <a:buNone/>
            </a:pPr>
            <a:r>
              <a:rPr lang="en-US" sz="1100" b="1" dirty="0">
                <a:solidFill>
                  <a:schemeClr val="bg1"/>
                </a:solidFill>
              </a:rPr>
              <a:t>n0</a:t>
            </a:r>
            <a:endParaRPr lang="en-US" sz="1100" dirty="0"/>
          </a:p>
        </p:txBody>
      </p:sp>
      <p:sp>
        <p:nvSpPr>
          <p:cNvPr id="12" name="Text 10"/>
          <p:cNvSpPr txBox="1"/>
          <p:nvPr/>
        </p:nvSpPr>
        <p:spPr>
          <a:xfrm>
            <a:off x="667512" y="2002536"/>
            <a:ext cx="822960" cy="228600"/>
          </a:xfrm>
          <a:prstGeom prst="rect">
            <a:avLst/>
          </a:prstGeom>
          <a:noFill/>
          <a:ln/>
        </p:spPr>
        <p:txBody>
          <a:bodyPr wrap="square" lIns="0" tIns="0" rIns="0" bIns="0" rtlCol="0" anchor="t"/>
          <a:lstStyle/>
          <a:p>
            <a:pPr algn="l" indent="0" marL="0">
              <a:buNone/>
            </a:pPr>
            <a:r>
              <a:rPr lang="en-US" sz="1000" dirty="0">
                <a:solidFill>
                  <a:schemeClr val="tx1"/>
                </a:solidFill>
              </a:rPr>
              <a:t>TCP source</a:t>
            </a:r>
            <a:endParaRPr lang="en-US" sz="1000" dirty="0"/>
          </a:p>
        </p:txBody>
      </p:sp>
      <p:sp>
        <p:nvSpPr>
          <p:cNvPr id="13" name="n1"/>
          <p:cNvSpPr/>
          <p:nvPr/>
        </p:nvSpPr>
        <p:spPr>
          <a:xfrm>
            <a:off x="804672" y="2953512"/>
            <a:ext cx="402336" cy="402336"/>
          </a:xfrm>
          <a:prstGeom prst="ellipse">
            <a:avLst/>
          </a:prstGeom>
          <a:solidFill>
            <a:schemeClr val="accent1"/>
          </a:solidFill>
          <a:ln w="19050">
            <a:solidFill>
              <a:schemeClr val="bg1"/>
            </a:solidFill>
            <a:prstDash val="solid"/>
          </a:ln>
        </p:spPr>
      </p:sp>
      <p:sp>
        <p:nvSpPr>
          <p:cNvPr id="14" name="Text 12"/>
          <p:cNvSpPr txBox="1"/>
          <p:nvPr/>
        </p:nvSpPr>
        <p:spPr>
          <a:xfrm>
            <a:off x="804672" y="2953512"/>
            <a:ext cx="402336" cy="402336"/>
          </a:xfrm>
          <a:prstGeom prst="rect">
            <a:avLst/>
          </a:prstGeom>
          <a:noFill/>
          <a:ln/>
        </p:spPr>
        <p:txBody>
          <a:bodyPr wrap="square" lIns="0" tIns="0" rIns="0" bIns="0" rtlCol="0" anchor="ctr"/>
          <a:lstStyle/>
          <a:p>
            <a:pPr algn="ctr" indent="0" marL="0">
              <a:buNone/>
            </a:pPr>
            <a:r>
              <a:rPr lang="en-US" sz="1100" b="1" dirty="0">
                <a:solidFill>
                  <a:schemeClr val="bg1"/>
                </a:solidFill>
              </a:rPr>
              <a:t>n1</a:t>
            </a:r>
            <a:endParaRPr lang="en-US" sz="1100" dirty="0"/>
          </a:p>
        </p:txBody>
      </p:sp>
      <p:sp>
        <p:nvSpPr>
          <p:cNvPr id="15" name="Text 13"/>
          <p:cNvSpPr txBox="1"/>
          <p:nvPr/>
        </p:nvSpPr>
        <p:spPr>
          <a:xfrm>
            <a:off x="667512" y="3374136"/>
            <a:ext cx="822960" cy="228600"/>
          </a:xfrm>
          <a:prstGeom prst="rect">
            <a:avLst/>
          </a:prstGeom>
          <a:noFill/>
          <a:ln/>
        </p:spPr>
        <p:txBody>
          <a:bodyPr wrap="square" lIns="0" tIns="0" rIns="0" bIns="0" rtlCol="0" anchor="t"/>
          <a:lstStyle/>
          <a:p>
            <a:pPr algn="l" indent="0" marL="0">
              <a:buNone/>
            </a:pPr>
            <a:r>
              <a:rPr lang="en-US" sz="1000" dirty="0">
                <a:solidFill>
                  <a:schemeClr val="tx1"/>
                </a:solidFill>
              </a:rPr>
              <a:t>UDP source</a:t>
            </a:r>
            <a:endParaRPr lang="en-US" sz="1000" dirty="0"/>
          </a:p>
        </p:txBody>
      </p:sp>
      <p:sp>
        <p:nvSpPr>
          <p:cNvPr id="16" name="n2"/>
          <p:cNvSpPr/>
          <p:nvPr/>
        </p:nvSpPr>
        <p:spPr>
          <a:xfrm>
            <a:off x="1947672" y="2267712"/>
            <a:ext cx="402336" cy="402336"/>
          </a:xfrm>
          <a:prstGeom prst="ellipse">
            <a:avLst/>
          </a:prstGeom>
          <a:solidFill>
            <a:schemeClr val="accent2"/>
          </a:solidFill>
          <a:ln w="19050">
            <a:solidFill>
              <a:schemeClr val="bg1"/>
            </a:solidFill>
            <a:prstDash val="solid"/>
          </a:ln>
        </p:spPr>
      </p:sp>
      <p:sp>
        <p:nvSpPr>
          <p:cNvPr id="17" name="Text 15"/>
          <p:cNvSpPr txBox="1"/>
          <p:nvPr/>
        </p:nvSpPr>
        <p:spPr>
          <a:xfrm>
            <a:off x="1947672" y="2267712"/>
            <a:ext cx="402336" cy="402336"/>
          </a:xfrm>
          <a:prstGeom prst="rect">
            <a:avLst/>
          </a:prstGeom>
          <a:noFill/>
          <a:ln/>
        </p:spPr>
        <p:txBody>
          <a:bodyPr wrap="square" lIns="0" tIns="0" rIns="0" bIns="0" rtlCol="0" anchor="ctr"/>
          <a:lstStyle/>
          <a:p>
            <a:pPr algn="ctr" indent="0" marL="0">
              <a:buNone/>
            </a:pPr>
            <a:r>
              <a:rPr lang="en-US" sz="1100" b="1" dirty="0">
                <a:solidFill>
                  <a:schemeClr val="bg1"/>
                </a:solidFill>
              </a:rPr>
              <a:t>n2</a:t>
            </a:r>
            <a:endParaRPr lang="en-US" sz="1100" dirty="0"/>
          </a:p>
        </p:txBody>
      </p:sp>
      <p:sp>
        <p:nvSpPr>
          <p:cNvPr id="18" name="Text 16"/>
          <p:cNvSpPr txBox="1"/>
          <p:nvPr/>
        </p:nvSpPr>
        <p:spPr>
          <a:xfrm>
            <a:off x="1737360" y="2011680"/>
            <a:ext cx="822960" cy="228600"/>
          </a:xfrm>
          <a:prstGeom prst="rect">
            <a:avLst/>
          </a:prstGeom>
          <a:noFill/>
          <a:ln/>
        </p:spPr>
        <p:txBody>
          <a:bodyPr wrap="square" lIns="0" tIns="0" rIns="0" bIns="0" rtlCol="0" anchor="t"/>
          <a:lstStyle/>
          <a:p>
            <a:pPr algn="ctr" indent="0" marL="0">
              <a:buNone/>
            </a:pPr>
            <a:r>
              <a:rPr lang="en-US" sz="1000" dirty="0">
                <a:solidFill>
                  <a:schemeClr val="tx1"/>
                </a:solidFill>
              </a:rPr>
              <a:t>router</a:t>
            </a:r>
            <a:endParaRPr lang="en-US" sz="1000" dirty="0"/>
          </a:p>
        </p:txBody>
      </p:sp>
      <p:sp>
        <p:nvSpPr>
          <p:cNvPr id="19" name="n3"/>
          <p:cNvSpPr/>
          <p:nvPr/>
        </p:nvSpPr>
        <p:spPr>
          <a:xfrm>
            <a:off x="3593592" y="2267712"/>
            <a:ext cx="402336" cy="402336"/>
          </a:xfrm>
          <a:prstGeom prst="ellipse">
            <a:avLst/>
          </a:prstGeom>
          <a:solidFill>
            <a:schemeClr val="accent1"/>
          </a:solidFill>
          <a:ln w="19050">
            <a:solidFill>
              <a:schemeClr val="bg1"/>
            </a:solidFill>
            <a:prstDash val="solid"/>
          </a:ln>
        </p:spPr>
      </p:sp>
      <p:sp>
        <p:nvSpPr>
          <p:cNvPr id="20" name="Text 18"/>
          <p:cNvSpPr txBox="1"/>
          <p:nvPr/>
        </p:nvSpPr>
        <p:spPr>
          <a:xfrm>
            <a:off x="3593592" y="2267712"/>
            <a:ext cx="402336" cy="402336"/>
          </a:xfrm>
          <a:prstGeom prst="rect">
            <a:avLst/>
          </a:prstGeom>
          <a:noFill/>
          <a:ln/>
        </p:spPr>
        <p:txBody>
          <a:bodyPr wrap="square" lIns="0" tIns="0" rIns="0" bIns="0" rtlCol="0" anchor="ctr"/>
          <a:lstStyle/>
          <a:p>
            <a:pPr algn="ctr" indent="0" marL="0">
              <a:buNone/>
            </a:pPr>
            <a:r>
              <a:rPr lang="en-US" sz="1100" b="1" dirty="0">
                <a:solidFill>
                  <a:schemeClr val="bg1"/>
                </a:solidFill>
              </a:rPr>
              <a:t>n3</a:t>
            </a:r>
            <a:endParaRPr lang="en-US" sz="1100" dirty="0"/>
          </a:p>
        </p:txBody>
      </p:sp>
      <p:sp>
        <p:nvSpPr>
          <p:cNvPr id="21" name="Text 19"/>
          <p:cNvSpPr txBox="1"/>
          <p:nvPr/>
        </p:nvSpPr>
        <p:spPr>
          <a:xfrm>
            <a:off x="3383280" y="2011680"/>
            <a:ext cx="822960" cy="228600"/>
          </a:xfrm>
          <a:prstGeom prst="rect">
            <a:avLst/>
          </a:prstGeom>
          <a:noFill/>
          <a:ln/>
        </p:spPr>
        <p:txBody>
          <a:bodyPr wrap="square" lIns="0" tIns="0" rIns="0" bIns="0" rtlCol="0" anchor="t"/>
          <a:lstStyle/>
          <a:p>
            <a:pPr algn="ctr" indent="0" marL="0">
              <a:buNone/>
            </a:pPr>
            <a:r>
              <a:rPr lang="en-US" sz="1000" dirty="0">
                <a:solidFill>
                  <a:schemeClr val="tx1"/>
                </a:solidFill>
              </a:rPr>
              <a:t>sink</a:t>
            </a:r>
            <a:endParaRPr lang="en-US" sz="1000" dirty="0"/>
          </a:p>
        </p:txBody>
      </p:sp>
      <p:sp>
        <p:nvSpPr>
          <p:cNvPr id="22" name="n4"/>
          <p:cNvSpPr/>
          <p:nvPr/>
        </p:nvSpPr>
        <p:spPr>
          <a:xfrm>
            <a:off x="2770632" y="3044952"/>
            <a:ext cx="402336" cy="402336"/>
          </a:xfrm>
          <a:prstGeom prst="ellipse">
            <a:avLst/>
          </a:prstGeom>
          <a:solidFill>
            <a:schemeClr val="accent5"/>
          </a:solidFill>
          <a:ln w="19050">
            <a:solidFill>
              <a:schemeClr val="bg1"/>
            </a:solidFill>
            <a:prstDash val="solid"/>
          </a:ln>
        </p:spPr>
      </p:sp>
      <p:sp>
        <p:nvSpPr>
          <p:cNvPr id="23" name="Text 21"/>
          <p:cNvSpPr txBox="1"/>
          <p:nvPr/>
        </p:nvSpPr>
        <p:spPr>
          <a:xfrm>
            <a:off x="2770632" y="3044952"/>
            <a:ext cx="402336" cy="402336"/>
          </a:xfrm>
          <a:prstGeom prst="rect">
            <a:avLst/>
          </a:prstGeom>
          <a:noFill/>
          <a:ln/>
        </p:spPr>
        <p:txBody>
          <a:bodyPr wrap="square" lIns="0" tIns="0" rIns="0" bIns="0" rtlCol="0" anchor="ctr"/>
          <a:lstStyle/>
          <a:p>
            <a:pPr algn="ctr" indent="0" marL="0">
              <a:buNone/>
            </a:pPr>
            <a:r>
              <a:rPr lang="en-US" sz="1100" b="1" dirty="0">
                <a:solidFill>
                  <a:schemeClr val="bg1"/>
                </a:solidFill>
              </a:rPr>
              <a:t>n4</a:t>
            </a:r>
            <a:endParaRPr lang="en-US" sz="1100" dirty="0"/>
          </a:p>
        </p:txBody>
      </p:sp>
      <p:sp>
        <p:nvSpPr>
          <p:cNvPr id="24" name="Text 22"/>
          <p:cNvSpPr txBox="1"/>
          <p:nvPr/>
        </p:nvSpPr>
        <p:spPr>
          <a:xfrm>
            <a:off x="2560320" y="3465576"/>
            <a:ext cx="822960" cy="228600"/>
          </a:xfrm>
          <a:prstGeom prst="rect">
            <a:avLst/>
          </a:prstGeom>
          <a:noFill/>
          <a:ln/>
        </p:spPr>
        <p:txBody>
          <a:bodyPr wrap="square" lIns="0" tIns="0" rIns="0" bIns="0" rtlCol="0" anchor="t"/>
          <a:lstStyle/>
          <a:p>
            <a:pPr algn="ctr" indent="0" marL="0">
              <a:buNone/>
            </a:pPr>
            <a:r>
              <a:rPr lang="en-US" sz="1000" dirty="0">
                <a:solidFill>
                  <a:schemeClr val="tx1"/>
                </a:solidFill>
              </a:rPr>
              <a:t>backup</a:t>
            </a:r>
            <a:endParaRPr lang="en-US" sz="1000" dirty="0"/>
          </a:p>
        </p:txBody>
      </p:sp>
      <p:sp>
        <p:nvSpPr>
          <p:cNvPr id="25" name="Text 23"/>
          <p:cNvSpPr txBox="1"/>
          <p:nvPr/>
        </p:nvSpPr>
        <p:spPr>
          <a:xfrm>
            <a:off x="2194560" y="2176272"/>
            <a:ext cx="1554480" cy="201168"/>
          </a:xfrm>
          <a:prstGeom prst="rect">
            <a:avLst/>
          </a:prstGeom>
          <a:noFill/>
          <a:ln/>
        </p:spPr>
        <p:txBody>
          <a:bodyPr wrap="square" lIns="0" tIns="0" rIns="0" bIns="0" rtlCol="0" anchor="t"/>
          <a:lstStyle/>
          <a:p>
            <a:pPr algn="ctr" indent="0" marL="0">
              <a:buNone/>
            </a:pPr>
            <a:r>
              <a:rPr lang="en-US" sz="1000" b="1" dirty="0">
                <a:solidFill>
                  <a:schemeClr val="accent4"/>
                </a:solidFill>
              </a:rPr>
              <a:t>1 Mb bottleneck, queue 10</a:t>
            </a:r>
            <a:endParaRPr lang="en-US" sz="1000" dirty="0"/>
          </a:p>
        </p:txBody>
      </p:sp>
      <p:sp>
        <p:nvSpPr>
          <p:cNvPr id="26" name="time0"/>
          <p:cNvSpPr/>
          <p:nvPr/>
        </p:nvSpPr>
        <p:spPr>
          <a:xfrm>
            <a:off x="4617720" y="1097280"/>
            <a:ext cx="685800" cy="384048"/>
          </a:xfrm>
          <a:prstGeom prst="roundRect">
            <a:avLst>
              <a:gd name="adj" fmla="val 19048"/>
            </a:avLst>
          </a:prstGeom>
          <a:solidFill>
            <a:schemeClr val="accent1"/>
          </a:solidFill>
          <a:ln/>
        </p:spPr>
      </p:sp>
      <p:sp>
        <p:nvSpPr>
          <p:cNvPr id="27" name="Text 25"/>
          <p:cNvSpPr txBox="1"/>
          <p:nvPr/>
        </p:nvSpPr>
        <p:spPr>
          <a:xfrm>
            <a:off x="4617720" y="1097280"/>
            <a:ext cx="685800" cy="384048"/>
          </a:xfrm>
          <a:prstGeom prst="rect">
            <a:avLst/>
          </a:prstGeom>
          <a:noFill/>
          <a:ln/>
        </p:spPr>
        <p:txBody>
          <a:bodyPr wrap="square" lIns="0" tIns="0" rIns="0" bIns="0" rtlCol="0" anchor="ctr"/>
          <a:lstStyle/>
          <a:p>
            <a:pPr algn="ctr" indent="0" marL="0">
              <a:buNone/>
            </a:pPr>
            <a:r>
              <a:rPr lang="en-US" sz="1200" b="1" dirty="0">
                <a:solidFill>
                  <a:schemeClr val="bg1"/>
                </a:solidFill>
              </a:rPr>
              <a:t>0.5 s</a:t>
            </a:r>
            <a:endParaRPr lang="en-US" sz="1200" dirty="0"/>
          </a:p>
        </p:txBody>
      </p:sp>
      <p:sp>
        <p:nvSpPr>
          <p:cNvPr id="28" name="Text 26"/>
          <p:cNvSpPr txBox="1"/>
          <p:nvPr/>
        </p:nvSpPr>
        <p:spPr>
          <a:xfrm>
            <a:off x="5440680" y="1060704"/>
            <a:ext cx="3246120" cy="457200"/>
          </a:xfrm>
          <a:prstGeom prst="rect">
            <a:avLst/>
          </a:prstGeom>
          <a:noFill/>
          <a:ln/>
        </p:spPr>
        <p:txBody>
          <a:bodyPr wrap="square" lIns="0" tIns="0" rIns="0" bIns="0" rtlCol="0" anchor="ctr"/>
          <a:lstStyle/>
          <a:p>
            <a:pPr indent="0" marL="0">
              <a:buNone/>
            </a:pPr>
            <a:r>
              <a:rPr lang="en-US" sz="1300" dirty="0">
                <a:solidFill>
                  <a:schemeClr val="tx1"/>
                </a:solidFill>
              </a:rPr>
              <a:t>TCP file transfer starts</a:t>
            </a:r>
            <a:endParaRPr lang="en-US" sz="1300" dirty="0"/>
          </a:p>
        </p:txBody>
      </p:sp>
      <p:sp>
        <p:nvSpPr>
          <p:cNvPr id="29" name="time1"/>
          <p:cNvSpPr/>
          <p:nvPr/>
        </p:nvSpPr>
        <p:spPr>
          <a:xfrm>
            <a:off x="4617720" y="1627632"/>
            <a:ext cx="685800" cy="384048"/>
          </a:xfrm>
          <a:prstGeom prst="roundRect">
            <a:avLst>
              <a:gd name="adj" fmla="val 19048"/>
            </a:avLst>
          </a:prstGeom>
          <a:solidFill>
            <a:schemeClr val="accent4"/>
          </a:solidFill>
          <a:ln/>
        </p:spPr>
      </p:sp>
      <p:sp>
        <p:nvSpPr>
          <p:cNvPr id="30" name="Text 28"/>
          <p:cNvSpPr txBox="1"/>
          <p:nvPr/>
        </p:nvSpPr>
        <p:spPr>
          <a:xfrm>
            <a:off x="4617720" y="1627632"/>
            <a:ext cx="685800" cy="384048"/>
          </a:xfrm>
          <a:prstGeom prst="rect">
            <a:avLst/>
          </a:prstGeom>
          <a:noFill/>
          <a:ln/>
        </p:spPr>
        <p:txBody>
          <a:bodyPr wrap="square" lIns="0" tIns="0" rIns="0" bIns="0" rtlCol="0" anchor="ctr"/>
          <a:lstStyle/>
          <a:p>
            <a:pPr algn="ctr" indent="0" marL="0">
              <a:buNone/>
            </a:pPr>
            <a:r>
              <a:rPr lang="en-US" sz="1200" b="1" dirty="0">
                <a:solidFill>
                  <a:schemeClr val="bg1"/>
                </a:solidFill>
              </a:rPr>
              <a:t>3.0 s</a:t>
            </a:r>
            <a:endParaRPr lang="en-US" sz="1200" dirty="0"/>
          </a:p>
        </p:txBody>
      </p:sp>
      <p:sp>
        <p:nvSpPr>
          <p:cNvPr id="31" name="Text 29"/>
          <p:cNvSpPr txBox="1"/>
          <p:nvPr/>
        </p:nvSpPr>
        <p:spPr>
          <a:xfrm>
            <a:off x="5440680" y="1591056"/>
            <a:ext cx="3246120" cy="457200"/>
          </a:xfrm>
          <a:prstGeom prst="rect">
            <a:avLst/>
          </a:prstGeom>
          <a:noFill/>
          <a:ln/>
        </p:spPr>
        <p:txBody>
          <a:bodyPr wrap="square" lIns="0" tIns="0" rIns="0" bIns="0" rtlCol="0" anchor="ctr"/>
          <a:lstStyle/>
          <a:p>
            <a:pPr indent="0" marL="0">
              <a:buNone/>
            </a:pPr>
            <a:r>
              <a:rPr lang="en-US" sz="1300" dirty="0">
                <a:solidFill>
                  <a:schemeClr val="tx1"/>
                </a:solidFill>
              </a:rPr>
              <a:t>UDP burst joins: queue fills, packets dropped (congestion)</a:t>
            </a:r>
            <a:endParaRPr lang="en-US" sz="1300" dirty="0"/>
          </a:p>
        </p:txBody>
      </p:sp>
      <p:sp>
        <p:nvSpPr>
          <p:cNvPr id="32" name="time2"/>
          <p:cNvSpPr/>
          <p:nvPr/>
        </p:nvSpPr>
        <p:spPr>
          <a:xfrm>
            <a:off x="4617720" y="2157984"/>
            <a:ext cx="685800" cy="384048"/>
          </a:xfrm>
          <a:prstGeom prst="roundRect">
            <a:avLst>
              <a:gd name="adj" fmla="val 19048"/>
            </a:avLst>
          </a:prstGeom>
          <a:solidFill>
            <a:schemeClr val="accent1"/>
          </a:solidFill>
          <a:ln/>
        </p:spPr>
      </p:sp>
      <p:sp>
        <p:nvSpPr>
          <p:cNvPr id="33" name="Text 31"/>
          <p:cNvSpPr txBox="1"/>
          <p:nvPr/>
        </p:nvSpPr>
        <p:spPr>
          <a:xfrm>
            <a:off x="4617720" y="2157984"/>
            <a:ext cx="685800" cy="384048"/>
          </a:xfrm>
          <a:prstGeom prst="rect">
            <a:avLst/>
          </a:prstGeom>
          <a:noFill/>
          <a:ln/>
        </p:spPr>
        <p:txBody>
          <a:bodyPr wrap="square" lIns="0" tIns="0" rIns="0" bIns="0" rtlCol="0" anchor="ctr"/>
          <a:lstStyle/>
          <a:p>
            <a:pPr algn="ctr" indent="0" marL="0">
              <a:buNone/>
            </a:pPr>
            <a:r>
              <a:rPr lang="en-US" sz="1200" b="1" dirty="0">
                <a:solidFill>
                  <a:schemeClr val="bg1"/>
                </a:solidFill>
              </a:rPr>
              <a:t>6.0 s</a:t>
            </a:r>
            <a:endParaRPr lang="en-US" sz="1200" dirty="0"/>
          </a:p>
        </p:txBody>
      </p:sp>
      <p:sp>
        <p:nvSpPr>
          <p:cNvPr id="34" name="Text 32"/>
          <p:cNvSpPr txBox="1"/>
          <p:nvPr/>
        </p:nvSpPr>
        <p:spPr>
          <a:xfrm>
            <a:off x="5440680" y="2121408"/>
            <a:ext cx="3246120" cy="457200"/>
          </a:xfrm>
          <a:prstGeom prst="rect">
            <a:avLst/>
          </a:prstGeom>
          <a:noFill/>
          <a:ln/>
        </p:spPr>
        <p:txBody>
          <a:bodyPr wrap="square" lIns="0" tIns="0" rIns="0" bIns="0" rtlCol="0" anchor="ctr"/>
          <a:lstStyle/>
          <a:p>
            <a:pPr indent="0" marL="0">
              <a:buNone/>
            </a:pPr>
            <a:r>
              <a:rPr lang="en-US" sz="1300" dirty="0">
                <a:solidFill>
                  <a:schemeClr val="tx1"/>
                </a:solidFill>
              </a:rPr>
              <a:t>UDP stops: network recovers</a:t>
            </a:r>
            <a:endParaRPr lang="en-US" sz="1300" dirty="0"/>
          </a:p>
        </p:txBody>
      </p:sp>
      <p:sp>
        <p:nvSpPr>
          <p:cNvPr id="35" name="time3"/>
          <p:cNvSpPr/>
          <p:nvPr/>
        </p:nvSpPr>
        <p:spPr>
          <a:xfrm>
            <a:off x="4617720" y="2688336"/>
            <a:ext cx="685800" cy="384048"/>
          </a:xfrm>
          <a:prstGeom prst="roundRect">
            <a:avLst>
              <a:gd name="adj" fmla="val 19048"/>
            </a:avLst>
          </a:prstGeom>
          <a:solidFill>
            <a:schemeClr val="accent4"/>
          </a:solidFill>
          <a:ln/>
        </p:spPr>
      </p:sp>
      <p:sp>
        <p:nvSpPr>
          <p:cNvPr id="36" name="Text 34"/>
          <p:cNvSpPr txBox="1"/>
          <p:nvPr/>
        </p:nvSpPr>
        <p:spPr>
          <a:xfrm>
            <a:off x="4617720" y="2688336"/>
            <a:ext cx="685800" cy="384048"/>
          </a:xfrm>
          <a:prstGeom prst="rect">
            <a:avLst/>
          </a:prstGeom>
          <a:noFill/>
          <a:ln/>
        </p:spPr>
        <p:txBody>
          <a:bodyPr wrap="square" lIns="0" tIns="0" rIns="0" bIns="0" rtlCol="0" anchor="ctr"/>
          <a:lstStyle/>
          <a:p>
            <a:pPr algn="ctr" indent="0" marL="0">
              <a:buNone/>
            </a:pPr>
            <a:r>
              <a:rPr lang="en-US" sz="1200" b="1" dirty="0">
                <a:solidFill>
                  <a:schemeClr val="bg1"/>
                </a:solidFill>
              </a:rPr>
              <a:t>7.0 s</a:t>
            </a:r>
            <a:endParaRPr lang="en-US" sz="1200" dirty="0"/>
          </a:p>
        </p:txBody>
      </p:sp>
      <p:sp>
        <p:nvSpPr>
          <p:cNvPr id="37" name="Text 35"/>
          <p:cNvSpPr txBox="1"/>
          <p:nvPr/>
        </p:nvSpPr>
        <p:spPr>
          <a:xfrm>
            <a:off x="5440680" y="2651760"/>
            <a:ext cx="3246120" cy="457200"/>
          </a:xfrm>
          <a:prstGeom prst="rect">
            <a:avLst/>
          </a:prstGeom>
          <a:noFill/>
          <a:ln/>
        </p:spPr>
        <p:txBody>
          <a:bodyPr wrap="square" lIns="0" tIns="0" rIns="0" bIns="0" rtlCol="0" anchor="ctr"/>
          <a:lstStyle/>
          <a:p>
            <a:pPr indent="0" marL="0">
              <a:buNone/>
            </a:pPr>
            <a:r>
              <a:rPr lang="en-US" sz="1300" dirty="0">
                <a:solidFill>
                  <a:schemeClr val="tx1"/>
                </a:solidFill>
              </a:rPr>
              <a:t>Main link fails: Distance Vector reroutes via n4</a:t>
            </a:r>
            <a:endParaRPr lang="en-US" sz="1300" dirty="0"/>
          </a:p>
        </p:txBody>
      </p:sp>
      <p:sp>
        <p:nvSpPr>
          <p:cNvPr id="38" name="time4"/>
          <p:cNvSpPr/>
          <p:nvPr/>
        </p:nvSpPr>
        <p:spPr>
          <a:xfrm>
            <a:off x="4617720" y="3218688"/>
            <a:ext cx="685800" cy="384048"/>
          </a:xfrm>
          <a:prstGeom prst="roundRect">
            <a:avLst>
              <a:gd name="adj" fmla="val 19048"/>
            </a:avLst>
          </a:prstGeom>
          <a:solidFill>
            <a:schemeClr val="accent1"/>
          </a:solidFill>
          <a:ln/>
        </p:spPr>
      </p:sp>
      <p:sp>
        <p:nvSpPr>
          <p:cNvPr id="39" name="Text 37"/>
          <p:cNvSpPr txBox="1"/>
          <p:nvPr/>
        </p:nvSpPr>
        <p:spPr>
          <a:xfrm>
            <a:off x="4617720" y="3218688"/>
            <a:ext cx="685800" cy="384048"/>
          </a:xfrm>
          <a:prstGeom prst="rect">
            <a:avLst/>
          </a:prstGeom>
          <a:noFill/>
          <a:ln/>
        </p:spPr>
        <p:txBody>
          <a:bodyPr wrap="square" lIns="0" tIns="0" rIns="0" bIns="0" rtlCol="0" anchor="ctr"/>
          <a:lstStyle/>
          <a:p>
            <a:pPr algn="ctr" indent="0" marL="0">
              <a:buNone/>
            </a:pPr>
            <a:r>
              <a:rPr lang="en-US" sz="1200" b="1" dirty="0">
                <a:solidFill>
                  <a:schemeClr val="bg1"/>
                </a:solidFill>
              </a:rPr>
              <a:t>8.5 s</a:t>
            </a:r>
            <a:endParaRPr lang="en-US" sz="1200" dirty="0"/>
          </a:p>
        </p:txBody>
      </p:sp>
      <p:sp>
        <p:nvSpPr>
          <p:cNvPr id="40" name="Text 38"/>
          <p:cNvSpPr txBox="1"/>
          <p:nvPr/>
        </p:nvSpPr>
        <p:spPr>
          <a:xfrm>
            <a:off x="5440680" y="3182112"/>
            <a:ext cx="3246120" cy="457200"/>
          </a:xfrm>
          <a:prstGeom prst="rect">
            <a:avLst/>
          </a:prstGeom>
          <a:noFill/>
          <a:ln/>
        </p:spPr>
        <p:txBody>
          <a:bodyPr wrap="square" lIns="0" tIns="0" rIns="0" bIns="0" rtlCol="0" anchor="ctr"/>
          <a:lstStyle/>
          <a:p>
            <a:pPr indent="0" marL="0">
              <a:buNone/>
            </a:pPr>
            <a:r>
              <a:rPr lang="en-US" sz="1300" dirty="0">
                <a:solidFill>
                  <a:schemeClr val="tx1"/>
                </a:solidFill>
              </a:rPr>
              <a:t>Link comes back</a:t>
            </a:r>
            <a:endParaRPr lang="en-US" sz="1300" dirty="0"/>
          </a:p>
        </p:txBody>
      </p:sp>
      <p:sp>
        <p:nvSpPr>
          <p:cNvPr id="41" name="flow0"/>
          <p:cNvSpPr/>
          <p:nvPr/>
        </p:nvSpPr>
        <p:spPr>
          <a:xfrm>
            <a:off x="457200" y="3931920"/>
            <a:ext cx="1481328" cy="548640"/>
          </a:xfrm>
          <a:prstGeom prst="roundRect">
            <a:avLst>
              <a:gd name="adj" fmla="val 13333"/>
            </a:avLst>
          </a:prstGeom>
          <a:solidFill>
            <a:schemeClr val="tx2"/>
          </a:solidFill>
          <a:ln/>
        </p:spPr>
      </p:sp>
      <p:sp>
        <p:nvSpPr>
          <p:cNvPr id="42" name="Text 40"/>
          <p:cNvSpPr txBox="1"/>
          <p:nvPr/>
        </p:nvSpPr>
        <p:spPr>
          <a:xfrm>
            <a:off x="502920" y="3931920"/>
            <a:ext cx="1389888" cy="548640"/>
          </a:xfrm>
          <a:prstGeom prst="rect">
            <a:avLst/>
          </a:prstGeom>
          <a:noFill/>
          <a:ln/>
        </p:spPr>
        <p:txBody>
          <a:bodyPr wrap="square" lIns="0" tIns="0" rIns="0" bIns="0" rtlCol="0" anchor="ctr"/>
          <a:lstStyle/>
          <a:p>
            <a:pPr algn="ctr" indent="0" marL="0">
              <a:buNone/>
            </a:pPr>
            <a:r>
              <a:rPr lang="en-US" sz="1100" b="1" dirty="0">
                <a:solidFill>
                  <a:schemeClr val="bg1"/>
                </a:solidFill>
              </a:rPr>
              <a:t>netmind_scenario.tcl</a:t>
            </a:r>
            <a:endParaRPr lang="en-US" sz="1100" dirty="0"/>
          </a:p>
        </p:txBody>
      </p:sp>
      <p:sp>
        <p:nvSpPr>
          <p:cNvPr id="43" name="Shape 41"/>
          <p:cNvSpPr/>
          <p:nvPr/>
        </p:nvSpPr>
        <p:spPr>
          <a:xfrm>
            <a:off x="1956816" y="4206240"/>
            <a:ext cx="169164" cy="914"/>
          </a:xfrm>
          <a:prstGeom prst="line">
            <a:avLst/>
          </a:prstGeom>
          <a:noFill/>
          <a:ln w="19050">
            <a:solidFill>
              <a:schemeClr val="accent5"/>
            </a:solidFill>
            <a:prstDash val="solid"/>
            <a:tailEnd type="triangle"/>
          </a:ln>
        </p:spPr>
      </p:sp>
      <p:sp>
        <p:nvSpPr>
          <p:cNvPr id="44" name="flow1"/>
          <p:cNvSpPr/>
          <p:nvPr/>
        </p:nvSpPr>
        <p:spPr>
          <a:xfrm>
            <a:off x="2144268" y="3931920"/>
            <a:ext cx="1481328" cy="548640"/>
          </a:xfrm>
          <a:prstGeom prst="roundRect">
            <a:avLst>
              <a:gd name="adj" fmla="val 13333"/>
            </a:avLst>
          </a:prstGeom>
          <a:solidFill>
            <a:schemeClr val="tx2"/>
          </a:solidFill>
          <a:ln/>
        </p:spPr>
      </p:sp>
      <p:sp>
        <p:nvSpPr>
          <p:cNvPr id="45" name="Text 43"/>
          <p:cNvSpPr txBox="1"/>
          <p:nvPr/>
        </p:nvSpPr>
        <p:spPr>
          <a:xfrm>
            <a:off x="2189988" y="3931920"/>
            <a:ext cx="1389888" cy="548640"/>
          </a:xfrm>
          <a:prstGeom prst="rect">
            <a:avLst/>
          </a:prstGeom>
          <a:noFill/>
          <a:ln/>
        </p:spPr>
        <p:txBody>
          <a:bodyPr wrap="square" lIns="0" tIns="0" rIns="0" bIns="0" rtlCol="0" anchor="ctr"/>
          <a:lstStyle/>
          <a:p>
            <a:pPr algn="ctr" indent="0" marL="0">
              <a:buNone/>
            </a:pPr>
            <a:r>
              <a:rPr lang="en-US" sz="1100" b="1" dirty="0">
                <a:solidFill>
                  <a:schemeClr val="bg1"/>
                </a:solidFill>
              </a:rPr>
              <a:t>NS2 runs</a:t>
            </a:r>
            <a:endParaRPr lang="en-US" sz="1100" dirty="0"/>
          </a:p>
        </p:txBody>
      </p:sp>
      <p:sp>
        <p:nvSpPr>
          <p:cNvPr id="46" name="Shape 44"/>
          <p:cNvSpPr/>
          <p:nvPr/>
        </p:nvSpPr>
        <p:spPr>
          <a:xfrm>
            <a:off x="3643884" y="4206240"/>
            <a:ext cx="169164" cy="914"/>
          </a:xfrm>
          <a:prstGeom prst="line">
            <a:avLst/>
          </a:prstGeom>
          <a:noFill/>
          <a:ln w="19050">
            <a:solidFill>
              <a:schemeClr val="accent5"/>
            </a:solidFill>
            <a:prstDash val="solid"/>
            <a:tailEnd type="triangle"/>
          </a:ln>
        </p:spPr>
      </p:sp>
      <p:sp>
        <p:nvSpPr>
          <p:cNvPr id="47" name="flow2"/>
          <p:cNvSpPr/>
          <p:nvPr/>
        </p:nvSpPr>
        <p:spPr>
          <a:xfrm>
            <a:off x="3831336" y="3931920"/>
            <a:ext cx="1481328" cy="548640"/>
          </a:xfrm>
          <a:prstGeom prst="roundRect">
            <a:avLst>
              <a:gd name="adj" fmla="val 13333"/>
            </a:avLst>
          </a:prstGeom>
          <a:solidFill>
            <a:schemeClr val="tx2"/>
          </a:solidFill>
          <a:ln/>
        </p:spPr>
      </p:sp>
      <p:sp>
        <p:nvSpPr>
          <p:cNvPr id="48" name="Text 46"/>
          <p:cNvSpPr txBox="1"/>
          <p:nvPr/>
        </p:nvSpPr>
        <p:spPr>
          <a:xfrm>
            <a:off x="3877056" y="3931920"/>
            <a:ext cx="1389888" cy="548640"/>
          </a:xfrm>
          <a:prstGeom prst="rect">
            <a:avLst/>
          </a:prstGeom>
          <a:noFill/>
          <a:ln/>
        </p:spPr>
        <p:txBody>
          <a:bodyPr wrap="square" lIns="0" tIns="0" rIns="0" bIns="0" rtlCol="0" anchor="ctr"/>
          <a:lstStyle/>
          <a:p>
            <a:pPr algn="ctr" indent="0" marL="0">
              <a:buNone/>
            </a:pPr>
            <a:r>
              <a:rPr lang="en-US" sz="1100" b="1" dirty="0">
                <a:solidFill>
                  <a:schemeClr val="bg1"/>
                </a:solidFill>
              </a:rPr>
              <a:t>netmind.tr trace file</a:t>
            </a:r>
            <a:endParaRPr lang="en-US" sz="1100" dirty="0"/>
          </a:p>
        </p:txBody>
      </p:sp>
      <p:sp>
        <p:nvSpPr>
          <p:cNvPr id="49" name="Shape 47"/>
          <p:cNvSpPr/>
          <p:nvPr/>
        </p:nvSpPr>
        <p:spPr>
          <a:xfrm>
            <a:off x="5330952" y="4206240"/>
            <a:ext cx="169164" cy="914"/>
          </a:xfrm>
          <a:prstGeom prst="line">
            <a:avLst/>
          </a:prstGeom>
          <a:noFill/>
          <a:ln w="19050">
            <a:solidFill>
              <a:schemeClr val="accent5"/>
            </a:solidFill>
            <a:prstDash val="solid"/>
            <a:tailEnd type="triangle"/>
          </a:ln>
        </p:spPr>
      </p:sp>
      <p:sp>
        <p:nvSpPr>
          <p:cNvPr id="50" name="flow3"/>
          <p:cNvSpPr/>
          <p:nvPr/>
        </p:nvSpPr>
        <p:spPr>
          <a:xfrm>
            <a:off x="5518404" y="3931920"/>
            <a:ext cx="1481328" cy="548640"/>
          </a:xfrm>
          <a:prstGeom prst="roundRect">
            <a:avLst>
              <a:gd name="adj" fmla="val 13333"/>
            </a:avLst>
          </a:prstGeom>
          <a:solidFill>
            <a:schemeClr val="tx2"/>
          </a:solidFill>
          <a:ln/>
        </p:spPr>
      </p:sp>
      <p:sp>
        <p:nvSpPr>
          <p:cNvPr id="51" name="Text 49"/>
          <p:cNvSpPr txBox="1"/>
          <p:nvPr/>
        </p:nvSpPr>
        <p:spPr>
          <a:xfrm>
            <a:off x="5564124" y="3931920"/>
            <a:ext cx="1389888" cy="548640"/>
          </a:xfrm>
          <a:prstGeom prst="rect">
            <a:avLst/>
          </a:prstGeom>
          <a:noFill/>
          <a:ln/>
        </p:spPr>
        <p:txBody>
          <a:bodyPr wrap="square" lIns="0" tIns="0" rIns="0" bIns="0" rtlCol="0" anchor="ctr"/>
          <a:lstStyle/>
          <a:p>
            <a:pPr algn="ctr" indent="0" marL="0">
              <a:buNone/>
            </a:pPr>
            <a:r>
              <a:rPr lang="en-US" sz="1100" b="1" dirty="0">
                <a:solidFill>
                  <a:schemeClr val="bg1"/>
                </a:solidFill>
              </a:rPr>
              <a:t>parse_trace.py</a:t>
            </a:r>
            <a:endParaRPr lang="en-US" sz="1100" dirty="0"/>
          </a:p>
        </p:txBody>
      </p:sp>
      <p:sp>
        <p:nvSpPr>
          <p:cNvPr id="52" name="Shape 50"/>
          <p:cNvSpPr/>
          <p:nvPr/>
        </p:nvSpPr>
        <p:spPr>
          <a:xfrm>
            <a:off x="7018020" y="4206240"/>
            <a:ext cx="169164" cy="914"/>
          </a:xfrm>
          <a:prstGeom prst="line">
            <a:avLst/>
          </a:prstGeom>
          <a:noFill/>
          <a:ln w="19050">
            <a:solidFill>
              <a:schemeClr val="accent5"/>
            </a:solidFill>
            <a:prstDash val="solid"/>
            <a:tailEnd type="triangle"/>
          </a:ln>
        </p:spPr>
      </p:sp>
      <p:sp>
        <p:nvSpPr>
          <p:cNvPr id="53" name="flow4"/>
          <p:cNvSpPr/>
          <p:nvPr/>
        </p:nvSpPr>
        <p:spPr>
          <a:xfrm>
            <a:off x="7205472" y="3931920"/>
            <a:ext cx="1481328" cy="548640"/>
          </a:xfrm>
          <a:prstGeom prst="roundRect">
            <a:avLst>
              <a:gd name="adj" fmla="val 13333"/>
            </a:avLst>
          </a:prstGeom>
          <a:solidFill>
            <a:schemeClr val="accent3"/>
          </a:solidFill>
          <a:ln/>
        </p:spPr>
      </p:sp>
      <p:sp>
        <p:nvSpPr>
          <p:cNvPr id="54" name="Text 52"/>
          <p:cNvSpPr txBox="1"/>
          <p:nvPr/>
        </p:nvSpPr>
        <p:spPr>
          <a:xfrm>
            <a:off x="7251192" y="3931920"/>
            <a:ext cx="1389888" cy="548640"/>
          </a:xfrm>
          <a:prstGeom prst="rect">
            <a:avLst/>
          </a:prstGeom>
          <a:noFill/>
          <a:ln/>
        </p:spPr>
        <p:txBody>
          <a:bodyPr wrap="square" lIns="0" tIns="0" rIns="0" bIns="0" rtlCol="0" anchor="ctr"/>
          <a:lstStyle/>
          <a:p>
            <a:pPr algn="ctr" indent="0" marL="0">
              <a:buNone/>
            </a:pPr>
            <a:r>
              <a:rPr lang="en-US" sz="1100" b="1" dirty="0">
                <a:solidFill>
                  <a:schemeClr val="bg1"/>
                </a:solidFill>
              </a:rPr>
              <a:t>throughput, loss, delay, jitter</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Example: "Why is the network slow?"</a:t>
            </a:r>
            <a:endParaRPr lang="en-US" sz="2800" dirty="0"/>
          </a:p>
        </p:txBody>
      </p:sp>
      <p:sp>
        <p:nvSpPr>
          <p:cNvPr id="3" name="step0"/>
          <p:cNvSpPr/>
          <p:nvPr/>
        </p:nvSpPr>
        <p:spPr>
          <a:xfrm>
            <a:off x="457200" y="1143000"/>
            <a:ext cx="411480" cy="411480"/>
          </a:xfrm>
          <a:prstGeom prst="ellipse">
            <a:avLst/>
          </a:prstGeom>
          <a:solidFill>
            <a:schemeClr val="accent1"/>
          </a:solidFill>
          <a:ln/>
        </p:spPr>
      </p:sp>
      <p:sp>
        <p:nvSpPr>
          <p:cNvPr id="4" name="Text 2"/>
          <p:cNvSpPr txBox="1"/>
          <p:nvPr/>
        </p:nvSpPr>
        <p:spPr>
          <a:xfrm>
            <a:off x="457200" y="1143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097280"/>
            <a:ext cx="3108960" cy="731520"/>
          </a:xfrm>
          <a:prstGeom prst="rect">
            <a:avLst/>
          </a:prstGeom>
          <a:noFill/>
          <a:ln/>
        </p:spPr>
        <p:txBody>
          <a:bodyPr wrap="square" lIns="0" tIns="0" rIns="0" bIns="0" rtlCol="0" anchor="t"/>
          <a:lstStyle/>
          <a:p>
            <a:pPr indent="0" marL="0">
              <a:buNone/>
            </a:pPr>
            <a:r>
              <a:rPr lang="en-US" sz="1400" b="1" dirty="0">
                <a:solidFill>
                  <a:schemeClr val="accent1"/>
                </a:solidFill>
              </a:rPr>
              <a:t>Measure</a:t>
            </a:r>
            <a:endParaRPr lang="en-US" sz="1400" dirty="0"/>
          </a:p>
          <a:p>
            <a:pPr indent="0" marL="0">
              <a:buNone/>
            </a:pPr>
            <a:r>
              <a:rPr lang="en-US" sz="1400" dirty="0">
                <a:solidFill>
                  <a:schemeClr val="tx1"/>
                </a:solidFill>
              </a:rPr>
              <a:t>Latency 185 ms, packet loss 7.4%, many TCP retransmissions</a:t>
            </a:r>
            <a:endParaRPr lang="en-US" sz="1400" dirty="0"/>
          </a:p>
        </p:txBody>
      </p:sp>
      <p:sp>
        <p:nvSpPr>
          <p:cNvPr id="6" name="step1"/>
          <p:cNvSpPr/>
          <p:nvPr/>
        </p:nvSpPr>
        <p:spPr>
          <a:xfrm>
            <a:off x="457200" y="1920240"/>
            <a:ext cx="411480" cy="411480"/>
          </a:xfrm>
          <a:prstGeom prst="ellipse">
            <a:avLst/>
          </a:prstGeom>
          <a:solidFill>
            <a:schemeClr val="accent2"/>
          </a:solidFill>
          <a:ln/>
        </p:spPr>
      </p:sp>
      <p:sp>
        <p:nvSpPr>
          <p:cNvPr id="7" name="Text 5"/>
          <p:cNvSpPr txBox="1"/>
          <p:nvPr/>
        </p:nvSpPr>
        <p:spPr>
          <a:xfrm>
            <a:off x="457200" y="19202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1874520"/>
            <a:ext cx="3108960" cy="731520"/>
          </a:xfrm>
          <a:prstGeom prst="rect">
            <a:avLst/>
          </a:prstGeom>
          <a:noFill/>
          <a:ln/>
        </p:spPr>
        <p:txBody>
          <a:bodyPr wrap="square" lIns="0" tIns="0" rIns="0" bIns="0" rtlCol="0" anchor="t"/>
          <a:lstStyle/>
          <a:p>
            <a:pPr indent="0" marL="0">
              <a:buNone/>
            </a:pPr>
            <a:r>
              <a:rPr lang="en-US" sz="1400" b="1" dirty="0">
                <a:solidFill>
                  <a:schemeClr val="accent2"/>
                </a:solidFill>
              </a:rPr>
              <a:t>Detect</a:t>
            </a:r>
            <a:endParaRPr lang="en-US" sz="1400" dirty="0"/>
          </a:p>
          <a:p>
            <a:pPr indent="0" marL="0">
              <a:buNone/>
            </a:pPr>
            <a:r>
              <a:rPr lang="en-US" sz="1400" dirty="0">
                <a:solidFill>
                  <a:schemeClr val="tx1"/>
                </a:solidFill>
              </a:rPr>
              <a:t>ML model flags the traffic as anomalous (score 0.89)</a:t>
            </a:r>
            <a:endParaRPr lang="en-US" sz="1400" dirty="0"/>
          </a:p>
        </p:txBody>
      </p:sp>
      <p:sp>
        <p:nvSpPr>
          <p:cNvPr id="9" name="step2"/>
          <p:cNvSpPr/>
          <p:nvPr/>
        </p:nvSpPr>
        <p:spPr>
          <a:xfrm>
            <a:off x="457200" y="2697480"/>
            <a:ext cx="411480" cy="411480"/>
          </a:xfrm>
          <a:prstGeom prst="ellipse">
            <a:avLst/>
          </a:prstGeom>
          <a:solidFill>
            <a:schemeClr val="accent3"/>
          </a:solidFill>
          <a:ln/>
        </p:spPr>
      </p:sp>
      <p:sp>
        <p:nvSpPr>
          <p:cNvPr id="10" name="Text 8"/>
          <p:cNvSpPr txBox="1"/>
          <p:nvPr/>
        </p:nvSpPr>
        <p:spPr>
          <a:xfrm>
            <a:off x="457200" y="26974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651760"/>
            <a:ext cx="3108960" cy="731520"/>
          </a:xfrm>
          <a:prstGeom prst="rect">
            <a:avLst/>
          </a:prstGeom>
          <a:noFill/>
          <a:ln/>
        </p:spPr>
        <p:txBody>
          <a:bodyPr wrap="square" lIns="0" tIns="0" rIns="0" bIns="0" rtlCol="0" anchor="t"/>
          <a:lstStyle/>
          <a:p>
            <a:pPr indent="0" marL="0">
              <a:buNone/>
            </a:pPr>
            <a:r>
              <a:rPr lang="en-US" sz="1400" b="1" dirty="0">
                <a:solidFill>
                  <a:schemeClr val="accent3"/>
                </a:solidFill>
              </a:rPr>
              <a:t>Ask</a:t>
            </a:r>
            <a:endParaRPr lang="en-US" sz="1400" dirty="0"/>
          </a:p>
          <a:p>
            <a:pPr indent="0" marL="0">
              <a:buNone/>
            </a:pPr>
            <a:r>
              <a:rPr lang="en-US" sz="1400" dirty="0">
                <a:solidFill>
                  <a:schemeClr val="tx1"/>
                </a:solidFill>
              </a:rPr>
              <a:t>User asks the Copilot what is causing the slowdown</a:t>
            </a:r>
            <a:endParaRPr lang="en-US" sz="1400" dirty="0"/>
          </a:p>
        </p:txBody>
      </p:sp>
      <p:sp>
        <p:nvSpPr>
          <p:cNvPr id="12" name="step3"/>
          <p:cNvSpPr/>
          <p:nvPr/>
        </p:nvSpPr>
        <p:spPr>
          <a:xfrm>
            <a:off x="457200" y="3474720"/>
            <a:ext cx="411480" cy="411480"/>
          </a:xfrm>
          <a:prstGeom prst="ellipse">
            <a:avLst/>
          </a:prstGeom>
          <a:solidFill>
            <a:schemeClr val="accent3"/>
          </a:solidFill>
          <a:ln/>
        </p:spPr>
      </p:sp>
      <p:sp>
        <p:nvSpPr>
          <p:cNvPr id="13" name="Text 11"/>
          <p:cNvSpPr txBox="1"/>
          <p:nvPr/>
        </p:nvSpPr>
        <p:spPr>
          <a:xfrm>
            <a:off x="457200"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05840" y="3429000"/>
            <a:ext cx="3108960" cy="731520"/>
          </a:xfrm>
          <a:prstGeom prst="rect">
            <a:avLst/>
          </a:prstGeom>
          <a:noFill/>
          <a:ln/>
        </p:spPr>
        <p:txBody>
          <a:bodyPr wrap="square" lIns="0" tIns="0" rIns="0" bIns="0" rtlCol="0" anchor="t"/>
          <a:lstStyle/>
          <a:p>
            <a:pPr indent="0" marL="0">
              <a:buNone/>
            </a:pPr>
            <a:r>
              <a:rPr lang="en-US" sz="1400" b="1" dirty="0">
                <a:solidFill>
                  <a:schemeClr val="accent3"/>
                </a:solidFill>
              </a:rPr>
              <a:t>Explain</a:t>
            </a:r>
            <a:endParaRPr lang="en-US" sz="1400" dirty="0"/>
          </a:p>
          <a:p>
            <a:pPr indent="0" marL="0">
              <a:buNone/>
            </a:pPr>
            <a:r>
              <a:rPr lang="en-US" sz="1400" dirty="0">
                <a:solidFill>
                  <a:schemeClr val="tx1"/>
                </a:solidFill>
              </a:rPr>
              <a:t>Likely congestion. Check the busiest flows and link utilization</a:t>
            </a:r>
            <a:endParaRPr lang="en-US" sz="1400" dirty="0"/>
          </a:p>
        </p:txBody>
      </p:sp>
      <p:pic>
        <p:nvPicPr>
          <p:cNvPr id="15" name="Image 0" descr="NetMind dashboard mockup">    </p:cNvPr>
          <p:cNvPicPr>
            <a:picLocks noChangeAspect="1"/>
          </p:cNvPicPr>
          <p:nvPr/>
        </p:nvPicPr>
        <p:blipFill>
          <a:blip r:embed="rId1"/>
          <a:stretch>
            <a:fillRect/>
          </a:stretch>
        </p:blipFill>
        <p:spPr>
          <a:xfrm>
            <a:off x="4343400" y="1051560"/>
            <a:ext cx="4343400" cy="3232001"/>
          </a:xfrm>
          <a:prstGeom prst="rect">
            <a:avLst/>
          </a:prstGeom>
        </p:spPr>
      </p:pic>
      <p:sp>
        <p:nvSpPr>
          <p:cNvPr id="16" name="Text 13"/>
          <p:cNvSpPr txBox="1"/>
          <p:nvPr/>
        </p:nvSpPr>
        <p:spPr>
          <a:xfrm>
            <a:off x="457200" y="4343400"/>
            <a:ext cx="3749040" cy="365760"/>
          </a:xfrm>
          <a:prstGeom prst="rect">
            <a:avLst/>
          </a:prstGeom>
          <a:noFill/>
          <a:ln/>
        </p:spPr>
        <p:txBody>
          <a:bodyPr wrap="square" lIns="0" tIns="0" rIns="0" bIns="0" rtlCol="0" anchor="t"/>
          <a:lstStyle/>
          <a:p>
            <a:pPr indent="0" marL="0">
              <a:buNone/>
            </a:pPr>
            <a:r>
              <a:rPr lang="en-US" sz="1100" i="1" dirty="0">
                <a:solidFill>
                  <a:schemeClr val="accent5"/>
                </a:solidFill>
              </a:rPr>
              <a:t>Illustrative values, not measured results. We will recreate this scenario in NS2.</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Expected result</a:t>
            </a:r>
            <a:endParaRPr lang="en-US" sz="2800" dirty="0"/>
          </a:p>
        </p:txBody>
      </p:sp>
      <p:sp>
        <p:nvSpPr>
          <p:cNvPr id="3" name="head0"/>
          <p:cNvSpPr/>
          <p:nvPr/>
        </p:nvSpPr>
        <p:spPr>
          <a:xfrm>
            <a:off x="457200" y="1097280"/>
            <a:ext cx="2560320" cy="502920"/>
          </a:xfrm>
          <a:prstGeom prst="roundRect">
            <a:avLst>
              <a:gd name="adj" fmla="val 14545"/>
            </a:avLst>
          </a:prstGeom>
          <a:solidFill>
            <a:schemeClr val="accent1"/>
          </a:solidFill>
          <a:ln/>
        </p:spPr>
      </p:sp>
      <p:sp>
        <p:nvSpPr>
          <p:cNvPr id="4" name="Text 2"/>
          <p:cNvSpPr txBox="1"/>
          <p:nvPr/>
        </p:nvSpPr>
        <p:spPr>
          <a:xfrm>
            <a:off x="640080" y="1097280"/>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Networking</a:t>
            </a:r>
            <a:endParaRPr lang="en-US" sz="1700" dirty="0"/>
          </a:p>
        </p:txBody>
      </p:sp>
      <p:sp>
        <p:nvSpPr>
          <p:cNvPr id="5" name="body0"/>
          <p:cNvSpPr/>
          <p:nvPr/>
        </p:nvSpPr>
        <p:spPr>
          <a:xfrm>
            <a:off x="457200" y="1691640"/>
            <a:ext cx="2560320" cy="2240280"/>
          </a:xfrm>
          <a:prstGeom prst="roundRect">
            <a:avLst>
              <a:gd name="adj" fmla="val 3265"/>
            </a:avLst>
          </a:prstGeom>
          <a:solidFill>
            <a:schemeClr val="bg2"/>
          </a:solidFill>
          <a:ln/>
        </p:spPr>
      </p:sp>
      <p:sp>
        <p:nvSpPr>
          <p:cNvPr id="6" name="Text 4"/>
          <p:cNvSpPr txBox="1"/>
          <p:nvPr/>
        </p:nvSpPr>
        <p:spPr>
          <a:xfrm>
            <a:off x="594360" y="1828800"/>
            <a:ext cx="22860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Live traffic captured and classified by protocol</a:t>
            </a:r>
            <a:endParaRPr lang="en-US" sz="1400" dirty="0"/>
          </a:p>
          <a:p>
            <a:pPr marL="342900" indent="-342900">
              <a:spcAft>
                <a:spcPts val="800"/>
              </a:spcAft>
              <a:buSzPct val="100000"/>
              <a:buChar char="•"/>
            </a:pPr>
            <a:r>
              <a:rPr lang="en-US" sz="1400" dirty="0">
                <a:solidFill>
                  <a:schemeClr val="tx1"/>
                </a:solidFill>
              </a:rPr>
              <a:t>Latency, throughput, loss and jitter measured</a:t>
            </a:r>
            <a:endParaRPr lang="en-US" sz="1400" dirty="0"/>
          </a:p>
          <a:p>
            <a:pPr marL="342900" indent="-342900">
              <a:spcAft>
                <a:spcPts val="800"/>
              </a:spcAft>
              <a:buSzPct val="100000"/>
              <a:buChar char="•"/>
            </a:pPr>
            <a:r>
              <a:rPr lang="en-US" sz="1400" dirty="0">
                <a:solidFill>
                  <a:schemeClr val="tx1"/>
                </a:solidFill>
              </a:rPr>
              <a:t>Topology graph with shortest paths</a:t>
            </a:r>
            <a:endParaRPr lang="en-US" sz="1400" dirty="0"/>
          </a:p>
        </p:txBody>
      </p:sp>
      <p:sp>
        <p:nvSpPr>
          <p:cNvPr id="7" name="head1"/>
          <p:cNvSpPr/>
          <p:nvPr/>
        </p:nvSpPr>
        <p:spPr>
          <a:xfrm>
            <a:off x="3291840" y="1097280"/>
            <a:ext cx="2560320" cy="502920"/>
          </a:xfrm>
          <a:prstGeom prst="roundRect">
            <a:avLst>
              <a:gd name="adj" fmla="val 14545"/>
            </a:avLst>
          </a:prstGeom>
          <a:solidFill>
            <a:schemeClr val="accent3"/>
          </a:solidFill>
          <a:ln/>
        </p:spPr>
      </p:sp>
      <p:sp>
        <p:nvSpPr>
          <p:cNvPr id="8" name="Text 6"/>
          <p:cNvSpPr txBox="1"/>
          <p:nvPr/>
        </p:nvSpPr>
        <p:spPr>
          <a:xfrm>
            <a:off x="3474720" y="1097280"/>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NS2 simulation</a:t>
            </a:r>
            <a:endParaRPr lang="en-US" sz="1700" dirty="0"/>
          </a:p>
        </p:txBody>
      </p:sp>
      <p:sp>
        <p:nvSpPr>
          <p:cNvPr id="9" name="body1"/>
          <p:cNvSpPr/>
          <p:nvPr/>
        </p:nvSpPr>
        <p:spPr>
          <a:xfrm>
            <a:off x="3291840" y="1691640"/>
            <a:ext cx="2560320" cy="2240280"/>
          </a:xfrm>
          <a:prstGeom prst="roundRect">
            <a:avLst>
              <a:gd name="adj" fmla="val 3265"/>
            </a:avLst>
          </a:prstGeom>
          <a:solidFill>
            <a:schemeClr val="bg2"/>
          </a:solidFill>
          <a:ln/>
        </p:spPr>
      </p:sp>
      <p:sp>
        <p:nvSpPr>
          <p:cNvPr id="10" name="Text 8"/>
          <p:cNvSpPr txBox="1"/>
          <p:nvPr/>
        </p:nvSpPr>
        <p:spPr>
          <a:xfrm>
            <a:off x="3429000" y="1828800"/>
            <a:ext cx="22860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Congestion and link failure created on purpose</a:t>
            </a:r>
            <a:endParaRPr lang="en-US" sz="1400" dirty="0"/>
          </a:p>
          <a:p>
            <a:pPr marL="342900" indent="-342900">
              <a:spcAft>
                <a:spcPts val="800"/>
              </a:spcAft>
              <a:buSzPct val="100000"/>
              <a:buChar char="•"/>
            </a:pPr>
            <a:r>
              <a:rPr lang="en-US" sz="1400" dirty="0">
                <a:solidFill>
                  <a:schemeClr val="tx1"/>
                </a:solidFill>
              </a:rPr>
              <a:t>Distance Vector rerouting shown in NAM</a:t>
            </a:r>
            <a:endParaRPr lang="en-US" sz="1400" dirty="0"/>
          </a:p>
          <a:p>
            <a:pPr marL="342900" indent="-342900">
              <a:spcAft>
                <a:spcPts val="800"/>
              </a:spcAft>
              <a:buSzPct val="100000"/>
              <a:buChar char="•"/>
            </a:pPr>
            <a:r>
              <a:rPr lang="en-US" sz="1400" dirty="0">
                <a:solidFill>
                  <a:schemeClr val="tx1"/>
                </a:solidFill>
              </a:rPr>
              <a:t>Metrics calculated from trace files</a:t>
            </a:r>
            <a:endParaRPr lang="en-US" sz="1400" dirty="0"/>
          </a:p>
        </p:txBody>
      </p:sp>
      <p:sp>
        <p:nvSpPr>
          <p:cNvPr id="11" name="head2"/>
          <p:cNvSpPr/>
          <p:nvPr/>
        </p:nvSpPr>
        <p:spPr>
          <a:xfrm>
            <a:off x="6126480" y="1097280"/>
            <a:ext cx="2560320" cy="502920"/>
          </a:xfrm>
          <a:prstGeom prst="roundRect">
            <a:avLst>
              <a:gd name="adj" fmla="val 14545"/>
            </a:avLst>
          </a:prstGeom>
          <a:solidFill>
            <a:schemeClr val="accent2"/>
          </a:solidFill>
          <a:ln/>
        </p:spPr>
      </p:sp>
      <p:sp>
        <p:nvSpPr>
          <p:cNvPr id="12" name="Text 10"/>
          <p:cNvSpPr txBox="1"/>
          <p:nvPr/>
        </p:nvSpPr>
        <p:spPr>
          <a:xfrm>
            <a:off x="6309360" y="1097280"/>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Intelligence</a:t>
            </a:r>
            <a:endParaRPr lang="en-US" sz="1700" dirty="0"/>
          </a:p>
        </p:txBody>
      </p:sp>
      <p:sp>
        <p:nvSpPr>
          <p:cNvPr id="13" name="body2"/>
          <p:cNvSpPr/>
          <p:nvPr/>
        </p:nvSpPr>
        <p:spPr>
          <a:xfrm>
            <a:off x="6126480" y="1691640"/>
            <a:ext cx="2560320" cy="2240280"/>
          </a:xfrm>
          <a:prstGeom prst="roundRect">
            <a:avLst>
              <a:gd name="adj" fmla="val 3265"/>
            </a:avLst>
          </a:prstGeom>
          <a:solidFill>
            <a:schemeClr val="bg2"/>
          </a:solidFill>
          <a:ln/>
        </p:spPr>
      </p:sp>
      <p:sp>
        <p:nvSpPr>
          <p:cNvPr id="14" name="Text 12"/>
          <p:cNvSpPr txBox="1"/>
          <p:nvPr/>
        </p:nvSpPr>
        <p:spPr>
          <a:xfrm>
            <a:off x="6263640" y="1828800"/>
            <a:ext cx="22860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Unusual traffic flagged by the ML model</a:t>
            </a:r>
            <a:endParaRPr lang="en-US" sz="1400" dirty="0"/>
          </a:p>
          <a:p>
            <a:pPr marL="342900" indent="-342900">
              <a:spcAft>
                <a:spcPts val="800"/>
              </a:spcAft>
              <a:buSzPct val="100000"/>
              <a:buChar char="•"/>
            </a:pPr>
            <a:r>
              <a:rPr lang="en-US" sz="1400" dirty="0">
                <a:solidFill>
                  <a:schemeClr val="tx1"/>
                </a:solidFill>
              </a:rPr>
              <a:t>Plain-English explanation of the cause</a:t>
            </a:r>
            <a:endParaRPr lang="en-US" sz="1400" dirty="0"/>
          </a:p>
          <a:p>
            <a:pPr marL="342900" indent="-342900">
              <a:spcAft>
                <a:spcPts val="800"/>
              </a:spcAft>
              <a:buSzPct val="100000"/>
              <a:buChar char="•"/>
            </a:pPr>
            <a:r>
              <a:rPr lang="en-US" sz="1400" dirty="0">
                <a:solidFill>
                  <a:schemeClr val="tx1"/>
                </a:solidFill>
              </a:rPr>
              <a:t>Troubleshooting suggestions for the user</a:t>
            </a:r>
            <a:endParaRPr lang="en-US" sz="1400" dirty="0"/>
          </a:p>
        </p:txBody>
      </p:sp>
      <p:sp>
        <p:nvSpPr>
          <p:cNvPr id="15" name="deliverable"/>
          <p:cNvSpPr/>
          <p:nvPr/>
        </p:nvSpPr>
        <p:spPr>
          <a:xfrm>
            <a:off x="457200" y="4069080"/>
            <a:ext cx="8229600" cy="502920"/>
          </a:xfrm>
          <a:prstGeom prst="roundRect">
            <a:avLst>
              <a:gd name="adj" fmla="val 14545"/>
            </a:avLst>
          </a:prstGeom>
          <a:solidFill>
            <a:schemeClr val="tx2"/>
          </a:solidFill>
          <a:ln/>
        </p:spPr>
      </p:sp>
      <p:sp>
        <p:nvSpPr>
          <p:cNvPr id="16" name="Text 14"/>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400" b="1" dirty="0">
                <a:solidFill>
                  <a:schemeClr val="bg1"/>
                </a:solidFill>
              </a:rPr>
              <a:t>Final result: one dashboard showing live or simulated network state, alerts and AI explanations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Plan and work split</a:t>
            </a:r>
            <a:endParaRPr lang="en-US" sz="2800" dirty="0"/>
          </a:p>
        </p:txBody>
      </p:sp>
      <p:sp>
        <p:nvSpPr>
          <p:cNvPr id="3" name="Text 1"/>
          <p:cNvSpPr txBox="1"/>
          <p:nvPr/>
        </p:nvSpPr>
        <p:spPr>
          <a:xfrm>
            <a:off x="457200" y="1097280"/>
            <a:ext cx="91440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24</a:t>
            </a:r>
            <a:endParaRPr lang="en-US" sz="4000" dirty="0"/>
          </a:p>
        </p:txBody>
      </p:sp>
      <p:sp>
        <p:nvSpPr>
          <p:cNvPr id="4" name="Text 2"/>
          <p:cNvSpPr txBox="1"/>
          <p:nvPr/>
        </p:nvSpPr>
        <p:spPr>
          <a:xfrm>
            <a:off x="1371600" y="1097280"/>
            <a:ext cx="2011680" cy="731520"/>
          </a:xfrm>
          <a:prstGeom prst="rect">
            <a:avLst/>
          </a:prstGeom>
          <a:noFill/>
          <a:ln/>
        </p:spPr>
        <p:txBody>
          <a:bodyPr wrap="square" lIns="0" tIns="0" rIns="0" bIns="0" rtlCol="0" anchor="ctr"/>
          <a:lstStyle/>
          <a:p>
            <a:pPr indent="0" marL="0">
              <a:buNone/>
            </a:pPr>
            <a:r>
              <a:rPr lang="en-US" sz="1400" dirty="0">
                <a:solidFill>
                  <a:schemeClr val="tx1"/>
                </a:solidFill>
              </a:rPr>
              <a:t>syllabus topics mapped</a:t>
            </a:r>
            <a:endParaRPr lang="en-US" sz="1400" dirty="0"/>
          </a:p>
        </p:txBody>
      </p:sp>
      <p:sp>
        <p:nvSpPr>
          <p:cNvPr id="5" name="Text 3"/>
          <p:cNvSpPr txBox="1"/>
          <p:nvPr/>
        </p:nvSpPr>
        <p:spPr>
          <a:xfrm>
            <a:off x="457200" y="2011680"/>
            <a:ext cx="91440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8</a:t>
            </a:r>
            <a:endParaRPr lang="en-US" sz="4000" dirty="0"/>
          </a:p>
        </p:txBody>
      </p:sp>
      <p:sp>
        <p:nvSpPr>
          <p:cNvPr id="6" name="Text 4"/>
          <p:cNvSpPr txBox="1"/>
          <p:nvPr/>
        </p:nvSpPr>
        <p:spPr>
          <a:xfrm>
            <a:off x="1371600" y="2011680"/>
            <a:ext cx="2011680" cy="731520"/>
          </a:xfrm>
          <a:prstGeom prst="rect">
            <a:avLst/>
          </a:prstGeom>
          <a:noFill/>
          <a:ln/>
        </p:spPr>
        <p:txBody>
          <a:bodyPr wrap="square" lIns="0" tIns="0" rIns="0" bIns="0" rtlCol="0" anchor="ctr"/>
          <a:lstStyle/>
          <a:p>
            <a:pPr indent="0" marL="0">
              <a:buNone/>
            </a:pPr>
            <a:r>
              <a:rPr lang="en-US" sz="1400" dirty="0">
                <a:solidFill>
                  <a:schemeClr val="tx1"/>
                </a:solidFill>
              </a:rPr>
              <a:t>development phases, networking first</a:t>
            </a:r>
            <a:endParaRPr lang="en-US" sz="1400" dirty="0"/>
          </a:p>
        </p:txBody>
      </p:sp>
      <p:sp>
        <p:nvSpPr>
          <p:cNvPr id="7" name="Text 5"/>
          <p:cNvSpPr txBox="1"/>
          <p:nvPr/>
        </p:nvSpPr>
        <p:spPr>
          <a:xfrm>
            <a:off x="457200" y="2926080"/>
            <a:ext cx="914400" cy="7315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2</a:t>
            </a:r>
            <a:endParaRPr lang="en-US" sz="4000" dirty="0"/>
          </a:p>
        </p:txBody>
      </p:sp>
      <p:sp>
        <p:nvSpPr>
          <p:cNvPr id="8" name="Text 6"/>
          <p:cNvSpPr txBox="1"/>
          <p:nvPr/>
        </p:nvSpPr>
        <p:spPr>
          <a:xfrm>
            <a:off x="1371600" y="2926080"/>
            <a:ext cx="2011680" cy="731520"/>
          </a:xfrm>
          <a:prstGeom prst="rect">
            <a:avLst/>
          </a:prstGeom>
          <a:noFill/>
          <a:ln/>
        </p:spPr>
        <p:txBody>
          <a:bodyPr wrap="square" lIns="0" tIns="0" rIns="0" bIns="0" rtlCol="0" anchor="ctr"/>
          <a:lstStyle/>
          <a:p>
            <a:pPr indent="0" marL="0">
              <a:buNone/>
            </a:pPr>
            <a:r>
              <a:rPr lang="en-US" sz="1400" dirty="0">
                <a:solidFill>
                  <a:schemeClr val="tx1"/>
                </a:solidFill>
              </a:rPr>
              <a:t>data sources: live capture and NS2</a:t>
            </a:r>
            <a:endParaRPr lang="en-US" sz="1400" dirty="0"/>
          </a:p>
        </p:txBody>
      </p:sp>
      <p:sp>
        <p:nvSpPr>
          <p:cNvPr id="9" name="member0"/>
          <p:cNvSpPr/>
          <p:nvPr/>
        </p:nvSpPr>
        <p:spPr>
          <a:xfrm>
            <a:off x="3657600" y="1097280"/>
            <a:ext cx="2377440" cy="2697480"/>
          </a:xfrm>
          <a:prstGeom prst="roundRect">
            <a:avLst>
              <a:gd name="adj" fmla="val 3077"/>
            </a:avLst>
          </a:prstGeom>
          <a:solidFill>
            <a:schemeClr val="bg2"/>
          </a:solidFill>
          <a:ln/>
        </p:spPr>
      </p:sp>
      <p:sp>
        <p:nvSpPr>
          <p:cNvPr id="10" name="Text 8"/>
          <p:cNvSpPr txBox="1"/>
          <p:nvPr/>
        </p:nvSpPr>
        <p:spPr>
          <a:xfrm>
            <a:off x="3840480" y="1234440"/>
            <a:ext cx="21031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Hardik</a:t>
            </a:r>
            <a:endParaRPr lang="en-US" sz="1800" dirty="0"/>
          </a:p>
        </p:txBody>
      </p:sp>
      <p:sp>
        <p:nvSpPr>
          <p:cNvPr id="11" name="Text 9"/>
          <p:cNvSpPr txBox="1"/>
          <p:nvPr/>
        </p:nvSpPr>
        <p:spPr>
          <a:xfrm>
            <a:off x="3840480" y="1691640"/>
            <a:ext cx="2103120" cy="2011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Packet Capture</a:t>
            </a:r>
            <a:endParaRPr lang="en-US" sz="1400" dirty="0"/>
          </a:p>
          <a:p>
            <a:pPr marL="342900" indent="-342900">
              <a:spcAft>
                <a:spcPts val="400"/>
              </a:spcAft>
              <a:buSzPct val="100000"/>
              <a:buChar char="•"/>
            </a:pPr>
            <a:r>
              <a:rPr lang="en-US" sz="1400" dirty="0">
                <a:solidFill>
                  <a:schemeClr val="tx1"/>
                </a:solidFill>
              </a:rPr>
              <a:t>Traffic Analyzer</a:t>
            </a:r>
            <a:endParaRPr lang="en-US" sz="1400" dirty="0"/>
          </a:p>
          <a:p>
            <a:pPr marL="342900" indent="-342900">
              <a:spcAft>
                <a:spcPts val="400"/>
              </a:spcAft>
              <a:buSzPct val="100000"/>
              <a:buChar char="•"/>
            </a:pPr>
            <a:r>
              <a:rPr lang="en-US" sz="1400" dirty="0">
                <a:solidFill>
                  <a:schemeClr val="tx1"/>
                </a:solidFill>
              </a:rPr>
              <a:t>Topology and Routing</a:t>
            </a:r>
            <a:endParaRPr lang="en-US" sz="1400" dirty="0"/>
          </a:p>
          <a:p>
            <a:pPr marL="342900" indent="-342900">
              <a:spcAft>
                <a:spcPts val="400"/>
              </a:spcAft>
              <a:buSzPct val="100000"/>
              <a:buChar char="•"/>
            </a:pPr>
            <a:r>
              <a:rPr lang="en-US" sz="1400" dirty="0">
                <a:solidFill>
                  <a:schemeClr val="tx1"/>
                </a:solidFill>
              </a:rPr>
              <a:t>Network State Database</a:t>
            </a:r>
            <a:endParaRPr lang="en-US" sz="1400" dirty="0"/>
          </a:p>
          <a:p>
            <a:pPr marL="342900" indent="-342900">
              <a:spcAft>
                <a:spcPts val="400"/>
              </a:spcAft>
              <a:buSzPct val="100000"/>
              <a:buChar char="•"/>
            </a:pPr>
            <a:r>
              <a:rPr lang="en-US" sz="1400" dirty="0">
                <a:solidFill>
                  <a:schemeClr val="tx1"/>
                </a:solidFill>
              </a:rPr>
              <a:t>Dashboard (lead)</a:t>
            </a:r>
            <a:endParaRPr lang="en-US" sz="1400" dirty="0"/>
          </a:p>
        </p:txBody>
      </p:sp>
      <p:sp>
        <p:nvSpPr>
          <p:cNvPr id="12" name="member1"/>
          <p:cNvSpPr/>
          <p:nvPr/>
        </p:nvSpPr>
        <p:spPr>
          <a:xfrm>
            <a:off x="6217920" y="1097280"/>
            <a:ext cx="2377440" cy="2697480"/>
          </a:xfrm>
          <a:prstGeom prst="roundRect">
            <a:avLst>
              <a:gd name="adj" fmla="val 3077"/>
            </a:avLst>
          </a:prstGeom>
          <a:solidFill>
            <a:schemeClr val="bg2"/>
          </a:solidFill>
          <a:ln/>
        </p:spPr>
      </p:sp>
      <p:sp>
        <p:nvSpPr>
          <p:cNvPr id="13" name="Text 11"/>
          <p:cNvSpPr txBox="1"/>
          <p:nvPr/>
        </p:nvSpPr>
        <p:spPr>
          <a:xfrm>
            <a:off x="6400800" y="1234440"/>
            <a:ext cx="21031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Mohammed Affan</a:t>
            </a:r>
            <a:endParaRPr lang="en-US" sz="1800" dirty="0"/>
          </a:p>
        </p:txBody>
      </p:sp>
      <p:sp>
        <p:nvSpPr>
          <p:cNvPr id="14" name="Text 12"/>
          <p:cNvSpPr txBox="1"/>
          <p:nvPr/>
        </p:nvSpPr>
        <p:spPr>
          <a:xfrm>
            <a:off x="6400800" y="1691640"/>
            <a:ext cx="2103120" cy="2011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NS2 Simulation</a:t>
            </a:r>
            <a:endParaRPr lang="en-US" sz="1400" dirty="0"/>
          </a:p>
          <a:p>
            <a:pPr marL="342900" indent="-342900">
              <a:spcAft>
                <a:spcPts val="400"/>
              </a:spcAft>
              <a:buSzPct val="100000"/>
              <a:buChar char="•"/>
            </a:pPr>
            <a:r>
              <a:rPr lang="en-US" sz="1400" dirty="0">
                <a:solidFill>
                  <a:schemeClr val="tx1"/>
                </a:solidFill>
              </a:rPr>
              <a:t>Performance Analyzer</a:t>
            </a:r>
            <a:endParaRPr lang="en-US" sz="1400" dirty="0"/>
          </a:p>
          <a:p>
            <a:pPr marL="342900" indent="-342900">
              <a:spcAft>
                <a:spcPts val="400"/>
              </a:spcAft>
              <a:buSzPct val="100000"/>
              <a:buChar char="•"/>
            </a:pPr>
            <a:r>
              <a:rPr lang="en-US" sz="1400" dirty="0">
                <a:solidFill>
                  <a:schemeClr val="tx1"/>
                </a:solidFill>
              </a:rPr>
              <a:t>ML Anomaly Detection</a:t>
            </a:r>
            <a:endParaRPr lang="en-US" sz="1400" dirty="0"/>
          </a:p>
          <a:p>
            <a:pPr marL="342900" indent="-342900">
              <a:spcAft>
                <a:spcPts val="400"/>
              </a:spcAft>
              <a:buSzPct val="100000"/>
              <a:buChar char="•"/>
            </a:pPr>
            <a:r>
              <a:rPr lang="en-US" sz="1400" dirty="0">
                <a:solidFill>
                  <a:schemeClr val="tx1"/>
                </a:solidFill>
              </a:rPr>
              <a:t>RAG Engine</a:t>
            </a:r>
            <a:endParaRPr lang="en-US" sz="1400" dirty="0"/>
          </a:p>
          <a:p>
            <a:pPr marL="342900" indent="-342900">
              <a:spcAft>
                <a:spcPts val="400"/>
              </a:spcAft>
              <a:buSzPct val="100000"/>
              <a:buChar char="•"/>
            </a:pPr>
            <a:r>
              <a:rPr lang="en-US" sz="1400" dirty="0">
                <a:solidFill>
                  <a:schemeClr val="tx1"/>
                </a:solidFill>
              </a:rPr>
              <a:t>LLM Copilot</a:t>
            </a:r>
            <a:endParaRPr lang="en-US" sz="1400" dirty="0"/>
          </a:p>
        </p:txBody>
      </p:sp>
      <p:sp>
        <p:nvSpPr>
          <p:cNvPr id="15" name="both"/>
          <p:cNvSpPr/>
          <p:nvPr/>
        </p:nvSpPr>
        <p:spPr>
          <a:xfrm>
            <a:off x="3657600" y="3931920"/>
            <a:ext cx="4937760" cy="502920"/>
          </a:xfrm>
          <a:prstGeom prst="roundRect">
            <a:avLst>
              <a:gd name="adj" fmla="val 14545"/>
            </a:avLst>
          </a:prstGeom>
          <a:solidFill>
            <a:schemeClr val="tx2"/>
          </a:solidFill>
          <a:ln/>
        </p:spPr>
      </p:sp>
      <p:sp>
        <p:nvSpPr>
          <p:cNvPr id="16" name="Text 14"/>
          <p:cNvSpPr txBox="1"/>
          <p:nvPr/>
        </p:nvSpPr>
        <p:spPr>
          <a:xfrm>
            <a:off x="3840480" y="3931920"/>
            <a:ext cx="4572000" cy="502920"/>
          </a:xfrm>
          <a:prstGeom prst="rect">
            <a:avLst/>
          </a:prstGeom>
          <a:noFill/>
          <a:ln/>
        </p:spPr>
        <p:txBody>
          <a:bodyPr wrap="square" lIns="0" tIns="0" rIns="0" bIns="0" rtlCol="0" anchor="ctr"/>
          <a:lstStyle/>
          <a:p>
            <a:pPr indent="0" marL="0">
              <a:buNone/>
            </a:pPr>
            <a:r>
              <a:rPr lang="en-US" sz="1400" b="1" dirty="0">
                <a:solidFill>
                  <a:schemeClr val="bg1"/>
                </a:solidFill>
              </a:rPr>
              <a:t>Together: integration, testing, documentation</a:t>
            </a:r>
            <a:endParaRPr lang="en-US" sz="1400" dirty="0"/>
          </a:p>
        </p:txBody>
      </p:sp>
      <p:sp>
        <p:nvSpPr>
          <p:cNvPr id="17" name="Text 15"/>
          <p:cNvSpPr txBox="1"/>
          <p:nvPr/>
        </p:nvSpPr>
        <p:spPr>
          <a:xfrm>
            <a:off x="457200" y="3977640"/>
            <a:ext cx="30175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Thank you. Questions?</a:t>
            </a:r>
            <a:endParaRPr lang="en-US" sz="2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NetMind">
  <a:themeElements>
    <a:clrScheme name="NetMind">
      <a:dk1>
        <a:srgbClr val="1F2933"/>
      </a:dk1>
      <a:lt1>
        <a:srgbClr val="FFFFFF"/>
      </a:lt1>
      <a:dk2>
        <a:srgbClr val="1B2A4A"/>
      </a:dk2>
      <a:lt2>
        <a:srgbClr val="EEF2F6"/>
      </a:lt2>
      <a:accent1>
        <a:srgbClr val="1F3A5F"/>
      </a:accent1>
      <a:accent2>
        <a:srgbClr val="C47F17"/>
      </a:accent2>
      <a:accent3>
        <a:srgbClr val="177E89"/>
      </a:accent3>
      <a:accent4>
        <a:srgbClr val="B03A48"/>
      </a:accent4>
      <a:accent5>
        <a:srgbClr val="8A96A3"/>
      </a:accent5>
      <a:accent6>
        <a:srgbClr val="DCE6F0"/>
      </a:accent6>
      <a:hlink>
        <a:srgbClr val="177E89"/>
      </a:hlink>
      <a:folHlink>
        <a:srgbClr val="1F3A5F"/>
      </a:folHlink>
    </a:clrScheme>
    <a:fontScheme name="NetMi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NetMind: Project Review 1</dc:title>
  <dc:subject>PptxGenJS Presentation</dc:subject>
  <dc:creator>Mohammed Affan, Hardik</dc:creator>
  <cp:lastModifiedBy>Mohammed Affan, Hardik</cp:lastModifiedBy>
  <cp:revision>1</cp:revision>
  <dcterms:created xsi:type="dcterms:W3CDTF">2026-10-08T04:41:01Z</dcterms:created>
  <dcterms:modified xsi:type="dcterms:W3CDTF">2026-10-08T04:41:01Z</dcterms:modified>
</cp:coreProperties>
</file>